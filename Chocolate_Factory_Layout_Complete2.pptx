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73" r:id="rId6"/>
    <p:sldId id="274" r:id="rId7"/>
    <p:sldId id="260" r:id="rId8"/>
    <p:sldId id="275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0"/>
    <p:restoredTop sz="94610"/>
  </p:normalViewPr>
  <p:slideViewPr>
    <p:cSldViewPr snapToGrid="0" snapToObjects="1">
      <p:cViewPr varScale="1">
        <p:scale>
          <a:sx n="152" d="100"/>
          <a:sy n="152" d="100"/>
        </p:scale>
        <p:origin x="48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65888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B1A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6B3A2A"/>
          </a:solidFill>
          <a:ln w="12700">
            <a:solidFill>
              <a:srgbClr val="6B3A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133088"/>
            <a:ext cx="9144000" cy="1005840"/>
          </a:xfrm>
          <a:prstGeom prst="rect">
            <a:avLst/>
          </a:prstGeom>
          <a:solidFill>
            <a:srgbClr val="6B3A2A"/>
          </a:solidFill>
          <a:ln w="12700">
            <a:solidFill>
              <a:srgbClr val="6B3A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C9952C"/>
          </a:solidFill>
          <a:ln w="12700">
            <a:solidFill>
              <a:srgbClr val="C9952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015984" y="0"/>
            <a:ext cx="128016" cy="5143500"/>
          </a:xfrm>
          <a:prstGeom prst="rect">
            <a:avLst/>
          </a:prstGeom>
          <a:solidFill>
            <a:srgbClr val="C9952C"/>
          </a:solidFill>
          <a:ln w="12700">
            <a:solidFill>
              <a:srgbClr val="C9952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1440"/>
            <a:ext cx="960120" cy="777240"/>
          </a:xfrm>
          <a:prstGeom prst="rect">
            <a:avLst/>
          </a:prstGeom>
          <a:solidFill>
            <a:srgbClr val="A0522D">
              <a:alpha val="60000"/>
            </a:srgbClr>
          </a:solidFill>
          <a:ln w="12700">
            <a:solidFill>
              <a:srgbClr val="C9952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08760" y="91440"/>
            <a:ext cx="960120" cy="777240"/>
          </a:xfrm>
          <a:prstGeom prst="rect">
            <a:avLst/>
          </a:prstGeom>
          <a:solidFill>
            <a:srgbClr val="A0522D">
              <a:alpha val="60000"/>
            </a:srgbClr>
          </a:solidFill>
          <a:ln w="12700">
            <a:solidFill>
              <a:srgbClr val="C9952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91440"/>
            <a:ext cx="960120" cy="777240"/>
          </a:xfrm>
          <a:prstGeom prst="rect">
            <a:avLst/>
          </a:prstGeom>
          <a:solidFill>
            <a:srgbClr val="A0522D">
              <a:alpha val="60000"/>
            </a:srgbClr>
          </a:solidFill>
          <a:ln w="12700">
            <a:solidFill>
              <a:srgbClr val="C9952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11880" y="91440"/>
            <a:ext cx="960120" cy="777240"/>
          </a:xfrm>
          <a:prstGeom prst="rect">
            <a:avLst/>
          </a:prstGeom>
          <a:solidFill>
            <a:srgbClr val="A0522D">
              <a:alpha val="60000"/>
            </a:srgbClr>
          </a:solidFill>
          <a:ln w="12700">
            <a:solidFill>
              <a:srgbClr val="C9952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91440"/>
            <a:ext cx="960120" cy="777240"/>
          </a:xfrm>
          <a:prstGeom prst="rect">
            <a:avLst/>
          </a:prstGeom>
          <a:solidFill>
            <a:srgbClr val="A0522D">
              <a:alpha val="60000"/>
            </a:srgbClr>
          </a:solidFill>
          <a:ln w="12700">
            <a:solidFill>
              <a:srgbClr val="C9952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715000" y="91440"/>
            <a:ext cx="960120" cy="777240"/>
          </a:xfrm>
          <a:prstGeom prst="rect">
            <a:avLst/>
          </a:prstGeom>
          <a:solidFill>
            <a:srgbClr val="A0522D">
              <a:alpha val="60000"/>
            </a:srgbClr>
          </a:solidFill>
          <a:ln w="12700">
            <a:solidFill>
              <a:srgbClr val="C9952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766560" y="91440"/>
            <a:ext cx="960120" cy="777240"/>
          </a:xfrm>
          <a:prstGeom prst="rect">
            <a:avLst/>
          </a:prstGeom>
          <a:solidFill>
            <a:srgbClr val="A0522D">
              <a:alpha val="60000"/>
            </a:srgbClr>
          </a:solidFill>
          <a:ln w="12700">
            <a:solidFill>
              <a:srgbClr val="C9952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818120" y="91440"/>
            <a:ext cx="960120" cy="777240"/>
          </a:xfrm>
          <a:prstGeom prst="rect">
            <a:avLst/>
          </a:prstGeom>
          <a:solidFill>
            <a:srgbClr val="A0522D">
              <a:alpha val="60000"/>
            </a:srgbClr>
          </a:solidFill>
          <a:ln w="12700">
            <a:solidFill>
              <a:srgbClr val="C9952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107899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600" dirty="0">
                <a:solidFill>
                  <a:srgbClr val="C9952C"/>
                </a:solidFill>
              </a:rPr>
              <a:t>🍫  CHOCOLATE FACTORY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1627632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Facilities Planning &amp; Layout Design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57200" y="242316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FDF3E7"/>
                </a:solidFill>
              </a:rPr>
              <a:t>Industrial Engineering Project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2743200" y="2944368"/>
            <a:ext cx="3657600" cy="36576"/>
          </a:xfrm>
          <a:prstGeom prst="rect">
            <a:avLst/>
          </a:prstGeom>
          <a:solidFill>
            <a:srgbClr val="C9952C"/>
          </a:solidFill>
          <a:ln w="12700">
            <a:solidFill>
              <a:srgbClr val="C9952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054096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DF3E7"/>
                </a:solidFill>
              </a:rPr>
              <a:t>Supervised by: Dr. Aziz Ezzat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3474720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9952C"/>
                </a:solidFill>
              </a:rPr>
              <a:t>Presented by: Shahd Elsanet  |  Abdelrahman Hatem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6B3A2A"/>
          </a:solidFill>
          <a:ln w="12700">
            <a:solidFill>
              <a:srgbClr val="6B3A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C9952C"/>
          </a:solidFill>
          <a:ln w="12700">
            <a:solidFill>
              <a:srgbClr val="C9952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73152"/>
            <a:ext cx="8686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TABLE OF CONTENTS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228600" y="932688"/>
            <a:ext cx="457200" cy="411480"/>
          </a:xfrm>
          <a:prstGeom prst="rect">
            <a:avLst/>
          </a:prstGeom>
          <a:solidFill>
            <a:srgbClr val="6B3A2A"/>
          </a:solidFill>
          <a:ln w="12700">
            <a:solidFill>
              <a:srgbClr val="6B3A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93268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58952" y="950976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1A0E"/>
                </a:solidFill>
              </a:rPr>
              <a:t>Introduction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8600" y="1408176"/>
            <a:ext cx="4389120" cy="0"/>
          </a:xfrm>
          <a:prstGeom prst="line">
            <a:avLst/>
          </a:prstGeom>
          <a:noFill/>
          <a:ln w="12700">
            <a:solidFill>
              <a:srgbClr val="D4B8A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8600" y="1508760"/>
            <a:ext cx="457200" cy="411480"/>
          </a:xfrm>
          <a:prstGeom prst="rect">
            <a:avLst/>
          </a:prstGeom>
          <a:solidFill>
            <a:srgbClr val="6B3A2A"/>
          </a:solidFill>
          <a:ln w="12700">
            <a:solidFill>
              <a:srgbClr val="6B3A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" y="150876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58952" y="1527048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1A0E"/>
                </a:solidFill>
              </a:rPr>
              <a:t>Product Analysis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28600" y="1984248"/>
            <a:ext cx="4389120" cy="0"/>
          </a:xfrm>
          <a:prstGeom prst="line">
            <a:avLst/>
          </a:prstGeom>
          <a:noFill/>
          <a:ln w="12700">
            <a:solidFill>
              <a:srgbClr val="D4B8A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8600" y="2084832"/>
            <a:ext cx="457200" cy="411480"/>
          </a:xfrm>
          <a:prstGeom prst="rect">
            <a:avLst/>
          </a:prstGeom>
          <a:solidFill>
            <a:srgbClr val="6B3A2A"/>
          </a:solidFill>
          <a:ln w="12700">
            <a:solidFill>
              <a:srgbClr val="6B3A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8600" y="2084832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58952" y="210312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1A0E"/>
                </a:solidFill>
              </a:rPr>
              <a:t>Process Analysis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8600" y="2560320"/>
            <a:ext cx="4389120" cy="0"/>
          </a:xfrm>
          <a:prstGeom prst="line">
            <a:avLst/>
          </a:prstGeom>
          <a:noFill/>
          <a:ln w="12700">
            <a:solidFill>
              <a:srgbClr val="D4B8A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8600" y="2660904"/>
            <a:ext cx="457200" cy="411480"/>
          </a:xfrm>
          <a:prstGeom prst="rect">
            <a:avLst/>
          </a:prstGeom>
          <a:solidFill>
            <a:srgbClr val="6B3A2A"/>
          </a:solidFill>
          <a:ln w="12700">
            <a:solidFill>
              <a:srgbClr val="6B3A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8600" y="2660904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58952" y="2679192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1A0E"/>
                </a:solidFill>
              </a:rPr>
              <a:t>Equipment Analysis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28600" y="3136392"/>
            <a:ext cx="4389120" cy="0"/>
          </a:xfrm>
          <a:prstGeom prst="line">
            <a:avLst/>
          </a:prstGeom>
          <a:noFill/>
          <a:ln w="12700">
            <a:solidFill>
              <a:srgbClr val="D4B8A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8600" y="3236976"/>
            <a:ext cx="457200" cy="411480"/>
          </a:xfrm>
          <a:prstGeom prst="rect">
            <a:avLst/>
          </a:prstGeom>
          <a:solidFill>
            <a:srgbClr val="6B3A2A"/>
          </a:solidFill>
          <a:ln w="12700">
            <a:solidFill>
              <a:srgbClr val="6B3A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8600" y="3236976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58952" y="3255264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1A0E"/>
                </a:solidFill>
              </a:rPr>
              <a:t>Machine Dimensions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28600" y="3712464"/>
            <a:ext cx="4389120" cy="0"/>
          </a:xfrm>
          <a:prstGeom prst="line">
            <a:avLst/>
          </a:prstGeom>
          <a:noFill/>
          <a:ln w="12700">
            <a:solidFill>
              <a:srgbClr val="D4B8A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28600" y="3813048"/>
            <a:ext cx="457200" cy="411480"/>
          </a:xfrm>
          <a:prstGeom prst="rect">
            <a:avLst/>
          </a:prstGeom>
          <a:solidFill>
            <a:srgbClr val="6B3A2A"/>
          </a:solidFill>
          <a:ln w="12700">
            <a:solidFill>
              <a:srgbClr val="6B3A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28600" y="381304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06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58952" y="3831336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1A0E"/>
                </a:solidFill>
              </a:rPr>
              <a:t>Preliminary Layout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28600" y="4288536"/>
            <a:ext cx="4389120" cy="0"/>
          </a:xfrm>
          <a:prstGeom prst="line">
            <a:avLst/>
          </a:prstGeom>
          <a:noFill/>
          <a:ln w="12700">
            <a:solidFill>
              <a:srgbClr val="D4B8A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28600" y="4389120"/>
            <a:ext cx="457200" cy="411480"/>
          </a:xfrm>
          <a:prstGeom prst="rect">
            <a:avLst/>
          </a:prstGeom>
          <a:solidFill>
            <a:srgbClr val="6B3A2A"/>
          </a:solidFill>
          <a:ln w="12700">
            <a:solidFill>
              <a:srgbClr val="6B3A2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28600" y="438912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07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58952" y="4407408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1A0E"/>
                </a:solidFill>
              </a:rPr>
              <a:t>Fabrication Department (Preliminary)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663440" y="932688"/>
            <a:ext cx="457200" cy="411480"/>
          </a:xfrm>
          <a:prstGeom prst="rect">
            <a:avLst/>
          </a:prstGeom>
          <a:solidFill>
            <a:srgbClr val="6B3A2A"/>
          </a:solidFill>
          <a:ln w="12700">
            <a:solidFill>
              <a:srgbClr val="6B3A2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63440" y="93268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08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193792" y="950976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1A0E"/>
                </a:solidFill>
              </a:rPr>
              <a:t>Activity Relationship Chart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663440" y="1408176"/>
            <a:ext cx="4389120" cy="0"/>
          </a:xfrm>
          <a:prstGeom prst="line">
            <a:avLst/>
          </a:prstGeom>
          <a:noFill/>
          <a:ln w="12700">
            <a:solidFill>
              <a:srgbClr val="D4B8A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663440" y="1508760"/>
            <a:ext cx="457200" cy="411480"/>
          </a:xfrm>
          <a:prstGeom prst="rect">
            <a:avLst/>
          </a:prstGeom>
          <a:solidFill>
            <a:srgbClr val="6B3A2A"/>
          </a:solidFill>
          <a:ln w="12700">
            <a:solidFill>
              <a:srgbClr val="6B3A2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63440" y="150876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09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193792" y="1527048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1A0E"/>
                </a:solidFill>
              </a:rPr>
              <a:t>Activity Relationship Diagram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663440" y="1984248"/>
            <a:ext cx="4389120" cy="0"/>
          </a:xfrm>
          <a:prstGeom prst="line">
            <a:avLst/>
          </a:prstGeom>
          <a:noFill/>
          <a:ln w="12700">
            <a:solidFill>
              <a:srgbClr val="D4B8A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663440" y="2084832"/>
            <a:ext cx="457200" cy="411480"/>
          </a:xfrm>
          <a:prstGeom prst="rect">
            <a:avLst/>
          </a:prstGeom>
          <a:solidFill>
            <a:srgbClr val="6B3A2A"/>
          </a:solidFill>
          <a:ln w="12700">
            <a:solidFill>
              <a:srgbClr val="6B3A2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63440" y="2084832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10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193792" y="210312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1A0E"/>
                </a:solidFill>
              </a:rPr>
              <a:t>From-To Chart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663440" y="2560320"/>
            <a:ext cx="4389120" cy="0"/>
          </a:xfrm>
          <a:prstGeom prst="line">
            <a:avLst/>
          </a:prstGeom>
          <a:noFill/>
          <a:ln w="12700">
            <a:solidFill>
              <a:srgbClr val="D4B8A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663440" y="2660904"/>
            <a:ext cx="457200" cy="411480"/>
          </a:xfrm>
          <a:prstGeom prst="rect">
            <a:avLst/>
          </a:prstGeom>
          <a:solidFill>
            <a:srgbClr val="6B3A2A"/>
          </a:solidFill>
          <a:ln w="12700">
            <a:solidFill>
              <a:srgbClr val="6B3A2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663440" y="2660904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11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193792" y="2679192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1A0E"/>
                </a:solidFill>
              </a:rPr>
              <a:t>Workstations Total Area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663440" y="3136392"/>
            <a:ext cx="4389120" cy="0"/>
          </a:xfrm>
          <a:prstGeom prst="line">
            <a:avLst/>
          </a:prstGeom>
          <a:noFill/>
          <a:ln w="12700">
            <a:solidFill>
              <a:srgbClr val="D4B8A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663440" y="3236976"/>
            <a:ext cx="457200" cy="411480"/>
          </a:xfrm>
          <a:prstGeom prst="rect">
            <a:avLst/>
          </a:prstGeom>
          <a:solidFill>
            <a:srgbClr val="6B3A2A"/>
          </a:solidFill>
          <a:ln w="12700">
            <a:solidFill>
              <a:srgbClr val="6B3A2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663440" y="3236976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12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5193792" y="3255264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1A0E"/>
                </a:solidFill>
              </a:rPr>
              <a:t>Fabrication Department Layout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4663440" y="3712464"/>
            <a:ext cx="4389120" cy="0"/>
          </a:xfrm>
          <a:prstGeom prst="line">
            <a:avLst/>
          </a:prstGeom>
          <a:noFill/>
          <a:ln w="12700">
            <a:solidFill>
              <a:srgbClr val="D4B8A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663440" y="3813048"/>
            <a:ext cx="457200" cy="411480"/>
          </a:xfrm>
          <a:prstGeom prst="rect">
            <a:avLst/>
          </a:prstGeom>
          <a:solidFill>
            <a:srgbClr val="6B3A2A"/>
          </a:solidFill>
          <a:ln w="12700">
            <a:solidFill>
              <a:srgbClr val="6B3A2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663440" y="381304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13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5193792" y="3831336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1A0E"/>
                </a:solidFill>
              </a:rPr>
              <a:t>Line Balancing – Welding/Enrobing Area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4663440" y="4288536"/>
            <a:ext cx="4389120" cy="0"/>
          </a:xfrm>
          <a:prstGeom prst="line">
            <a:avLst/>
          </a:prstGeom>
          <a:noFill/>
          <a:ln w="12700">
            <a:solidFill>
              <a:srgbClr val="D4B8A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663440" y="4389120"/>
            <a:ext cx="457200" cy="411480"/>
          </a:xfrm>
          <a:prstGeom prst="rect">
            <a:avLst/>
          </a:prstGeom>
          <a:solidFill>
            <a:srgbClr val="6B3A2A"/>
          </a:solidFill>
          <a:ln w="12700">
            <a:solidFill>
              <a:srgbClr val="6B3A2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663440" y="438912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14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5193792" y="4407408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1A0E"/>
                </a:solidFill>
              </a:rPr>
              <a:t>Line Balancing – Assembly/Packaging Area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3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3B1A08"/>
          </a:solidFill>
          <a:ln w="12700">
            <a:solidFill>
              <a:srgbClr val="3B1A0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C9952C"/>
          </a:solidFill>
          <a:ln w="12700">
            <a:solidFill>
              <a:srgbClr val="C9952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73152"/>
            <a:ext cx="8686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1. INTRODUCTION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228600" y="914400"/>
            <a:ext cx="365760" cy="347472"/>
          </a:xfrm>
          <a:prstGeom prst="rect">
            <a:avLst/>
          </a:prstGeom>
          <a:solidFill>
            <a:srgbClr val="C9952C"/>
          </a:solidFill>
          <a:ln w="12700">
            <a:solidFill>
              <a:srgbClr val="C9952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914400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67512" y="91440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1A08"/>
                </a:solidFill>
              </a:rPr>
              <a:t>Project Objective: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880360" y="914400"/>
            <a:ext cx="6035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1A0E"/>
                </a:solidFill>
              </a:rPr>
              <a:t>Design an efficient factory layout for a chocolate manufacturing plant to maximise throughput and minimise material handling costs.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28600" y="1335024"/>
            <a:ext cx="8686800" cy="0"/>
          </a:xfrm>
          <a:prstGeom prst="line">
            <a:avLst/>
          </a:prstGeom>
          <a:noFill/>
          <a:ln w="12700">
            <a:solidFill>
              <a:srgbClr val="C9B8A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600" y="1609344"/>
            <a:ext cx="365760" cy="347472"/>
          </a:xfrm>
          <a:prstGeom prst="rect">
            <a:avLst/>
          </a:prstGeom>
          <a:solidFill>
            <a:srgbClr val="C9952C"/>
          </a:solidFill>
          <a:ln w="12700">
            <a:solidFill>
              <a:srgbClr val="C9952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" y="1609344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67512" y="1609344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1A08"/>
                </a:solidFill>
              </a:rPr>
              <a:t>Scope: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880360" y="1609344"/>
            <a:ext cx="6035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1A0E"/>
                </a:solidFill>
              </a:rPr>
              <a:t>Covers product analysis, process flow, equipment selection, workstation sizing, and final plant layout for a medium-scale chocolate factory.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28600" y="2029968"/>
            <a:ext cx="8686800" cy="0"/>
          </a:xfrm>
          <a:prstGeom prst="line">
            <a:avLst/>
          </a:prstGeom>
          <a:noFill/>
          <a:ln w="12700">
            <a:solidFill>
              <a:srgbClr val="C9B8A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8600" y="2304288"/>
            <a:ext cx="365760" cy="347472"/>
          </a:xfrm>
          <a:prstGeom prst="rect">
            <a:avLst/>
          </a:prstGeom>
          <a:solidFill>
            <a:srgbClr val="C9952C"/>
          </a:solidFill>
          <a:ln w="12700">
            <a:solidFill>
              <a:srgbClr val="C9952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8600" y="2304288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67512" y="2304288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1A08"/>
                </a:solidFill>
              </a:rPr>
              <a:t>Products: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880360" y="2304288"/>
            <a:ext cx="6035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1A0E"/>
                </a:solidFill>
              </a:rPr>
              <a:t>The factory produces three main lines: Milk Chocolate Bars, Dark Chocolate Truffles, and Chocolate-Coated Wafers.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28600" y="2724912"/>
            <a:ext cx="8686800" cy="0"/>
          </a:xfrm>
          <a:prstGeom prst="line">
            <a:avLst/>
          </a:prstGeom>
          <a:noFill/>
          <a:ln w="12700">
            <a:solidFill>
              <a:srgbClr val="C9B8A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8600" y="2999232"/>
            <a:ext cx="365760" cy="347472"/>
          </a:xfrm>
          <a:prstGeom prst="rect">
            <a:avLst/>
          </a:prstGeom>
          <a:solidFill>
            <a:srgbClr val="C9952C"/>
          </a:solidFill>
          <a:ln w="12700">
            <a:solidFill>
              <a:srgbClr val="C9952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8600" y="2999232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67512" y="2999232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1A08"/>
                </a:solidFill>
              </a:rPr>
              <a:t>Production Volume: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880360" y="2999232"/>
            <a:ext cx="6035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1A0E"/>
                </a:solidFill>
              </a:rPr>
              <a:t>Target capacity: 5,000 kg/day across all product lines, with a planned 8-hour single-shift operation (480 min/day).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28600" y="3419856"/>
            <a:ext cx="8686800" cy="0"/>
          </a:xfrm>
          <a:prstGeom prst="line">
            <a:avLst/>
          </a:prstGeom>
          <a:noFill/>
          <a:ln w="12700">
            <a:solidFill>
              <a:srgbClr val="C9B8A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28600" y="3694176"/>
            <a:ext cx="365760" cy="347472"/>
          </a:xfrm>
          <a:prstGeom prst="rect">
            <a:avLst/>
          </a:prstGeom>
          <a:solidFill>
            <a:srgbClr val="C9952C"/>
          </a:solidFill>
          <a:ln w="12700">
            <a:solidFill>
              <a:srgbClr val="C9952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28600" y="3694176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67512" y="3694176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1A08"/>
                </a:solidFill>
              </a:rPr>
              <a:t>Methodology: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880360" y="3694176"/>
            <a:ext cx="6035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1A0E"/>
                </a:solidFill>
              </a:rPr>
              <a:t>Systematic Layout Planning (SLP) is applied — starting from activity relationships through final optimised layout selection.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28600" y="4114800"/>
            <a:ext cx="8686800" cy="0"/>
          </a:xfrm>
          <a:prstGeom prst="line">
            <a:avLst/>
          </a:prstGeom>
          <a:noFill/>
          <a:ln w="12700">
            <a:solidFill>
              <a:srgbClr val="C9B8A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28600" y="4389120"/>
            <a:ext cx="365760" cy="347472"/>
          </a:xfrm>
          <a:prstGeom prst="rect">
            <a:avLst/>
          </a:prstGeom>
          <a:solidFill>
            <a:srgbClr val="C9952C"/>
          </a:solidFill>
          <a:ln w="12700">
            <a:solidFill>
              <a:srgbClr val="C9952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28600" y="4389120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6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67512" y="438912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1A08"/>
                </a:solidFill>
              </a:rPr>
              <a:t>Design Goals: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880360" y="4389120"/>
            <a:ext cx="6035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1A0E"/>
                </a:solidFill>
              </a:rPr>
              <a:t>Achieve ≥85% line efficiency, &lt;50 m average travel distance between adjacent departments, and full GMP/food-safety compliance.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6B3A2A"/>
          </a:solidFill>
          <a:ln w="12700">
            <a:solidFill>
              <a:srgbClr val="6B3A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C9952C"/>
          </a:solidFill>
          <a:ln w="12700">
            <a:solidFill>
              <a:srgbClr val="C9952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73152"/>
            <a:ext cx="8686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2. PRODUCT ANALYSIS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201168" y="877824"/>
            <a:ext cx="2852928" cy="4096512"/>
          </a:xfrm>
          <a:prstGeom prst="rect">
            <a:avLst/>
          </a:prstGeom>
          <a:solidFill>
            <a:srgbClr val="F5F0EB"/>
          </a:solidFill>
          <a:ln w="12700">
            <a:solidFill>
              <a:srgbClr val="D4B8A0"/>
            </a:solidFill>
            <a:prstDash val="solid"/>
          </a:ln>
          <a:effectLst>
            <a:outerShdw blurRad="762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01168" y="877824"/>
            <a:ext cx="2852928" cy="512064"/>
          </a:xfrm>
          <a:prstGeom prst="rect">
            <a:avLst/>
          </a:prstGeom>
          <a:solidFill>
            <a:srgbClr val="7B3F00"/>
          </a:solidFill>
          <a:ln w="12700">
            <a:solidFill>
              <a:srgbClr val="7B3F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2608" y="896112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Milk Chocolate Bar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10896" y="146304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B3A2A"/>
                </a:solidFill>
              </a:rPr>
              <a:t>Dimensions: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10896" y="1728216"/>
            <a:ext cx="26060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1A0E"/>
                </a:solidFill>
              </a:rPr>
              <a:t>150 × 75 × 10 mm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10896" y="212140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B3A2A"/>
                </a:solidFill>
              </a:rPr>
              <a:t>Unit Weight: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10896" y="2386584"/>
            <a:ext cx="26060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1A0E"/>
                </a:solidFill>
              </a:rPr>
              <a:t>100 g/bar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10896" y="2779776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B3A2A"/>
                </a:solidFill>
              </a:rPr>
              <a:t>Daily Volume: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10896" y="3044952"/>
            <a:ext cx="26060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1A0E"/>
                </a:solidFill>
              </a:rPr>
              <a:t>2,000 kg/day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10896" y="3438144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B3A2A"/>
                </a:solidFill>
              </a:rPr>
              <a:t>Key Ingredients: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10896" y="3703320"/>
            <a:ext cx="26060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1A0E"/>
                </a:solidFill>
              </a:rPr>
              <a:t>Cocoa mass, milk powder, sugar, cocoa butter, soy lecithin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10896" y="409651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B3A2A"/>
                </a:solidFill>
              </a:rPr>
              <a:t>Packaging: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10896" y="4361688"/>
            <a:ext cx="26060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1A0E"/>
                </a:solidFill>
              </a:rPr>
              <a:t>Aluminium foil wrap + printed paper sleeve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182112" y="877824"/>
            <a:ext cx="2852928" cy="4096512"/>
          </a:xfrm>
          <a:prstGeom prst="rect">
            <a:avLst/>
          </a:prstGeom>
          <a:solidFill>
            <a:srgbClr val="F5F0EB"/>
          </a:solidFill>
          <a:ln w="12700">
            <a:solidFill>
              <a:srgbClr val="D4B8A0"/>
            </a:solidFill>
            <a:prstDash val="solid"/>
          </a:ln>
          <a:effectLst>
            <a:outerShdw blurRad="762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182112" y="877824"/>
            <a:ext cx="2852928" cy="512064"/>
          </a:xfrm>
          <a:prstGeom prst="rect">
            <a:avLst/>
          </a:prstGeom>
          <a:solidFill>
            <a:srgbClr val="3B1A08"/>
          </a:solidFill>
          <a:ln w="12700">
            <a:solidFill>
              <a:srgbClr val="3B1A0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73552" y="896112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Dark Chocolate Truffle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291840" y="146304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B3A2A"/>
                </a:solidFill>
              </a:rPr>
              <a:t>Dimensions: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291840" y="1728216"/>
            <a:ext cx="26060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1A0E"/>
                </a:solidFill>
              </a:rPr>
              <a:t>Ø 25 mm × 22 mm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291840" y="212140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B3A2A"/>
                </a:solidFill>
              </a:rPr>
              <a:t>Unit Weight: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291840" y="2386584"/>
            <a:ext cx="26060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1A0E"/>
                </a:solidFill>
              </a:rPr>
              <a:t>12 g/piece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291840" y="2779776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B3A2A"/>
                </a:solidFill>
              </a:rPr>
              <a:t>Daily Volume: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291840" y="3044952"/>
            <a:ext cx="26060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1A0E"/>
                </a:solidFill>
              </a:rPr>
              <a:t>1,500 kg/day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291840" y="3438144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B3A2A"/>
                </a:solidFill>
              </a:rPr>
              <a:t>Key Ingredients: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291840" y="3703320"/>
            <a:ext cx="26060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1A0E"/>
                </a:solidFill>
              </a:rPr>
              <a:t>70% cocoa mass, fresh cream, butter, sugar, vanilla extract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291840" y="409651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B3A2A"/>
                </a:solidFill>
              </a:rPr>
              <a:t>Packaging: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291840" y="4361688"/>
            <a:ext cx="26060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1A0E"/>
                </a:solidFill>
              </a:rPr>
              <a:t>Individual gold-foil wrap, boxed 12 pcs per gift box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163056" y="877824"/>
            <a:ext cx="2852928" cy="4096512"/>
          </a:xfrm>
          <a:prstGeom prst="rect">
            <a:avLst/>
          </a:prstGeom>
          <a:solidFill>
            <a:srgbClr val="F5F0EB"/>
          </a:solidFill>
          <a:ln w="12700">
            <a:solidFill>
              <a:srgbClr val="D4B8A0"/>
            </a:solidFill>
            <a:prstDash val="solid"/>
          </a:ln>
          <a:effectLst>
            <a:outerShdw blurRad="762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163056" y="877824"/>
            <a:ext cx="2852928" cy="512064"/>
          </a:xfrm>
          <a:prstGeom prst="rect">
            <a:avLst/>
          </a:prstGeom>
          <a:solidFill>
            <a:srgbClr val="A0522D"/>
          </a:solidFill>
          <a:ln w="12700">
            <a:solidFill>
              <a:srgbClr val="A0522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54496" y="896112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Chocolate-Coated Wafer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272784" y="146304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B3A2A"/>
                </a:solidFill>
              </a:rPr>
              <a:t>Dimensions: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272784" y="1728216"/>
            <a:ext cx="26060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1A0E"/>
                </a:solidFill>
              </a:rPr>
              <a:t>120 × 30 × 15 mm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272784" y="212140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B3A2A"/>
                </a:solidFill>
              </a:rPr>
              <a:t>Unit Weight: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6272784" y="2386584"/>
            <a:ext cx="26060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1A0E"/>
                </a:solidFill>
              </a:rPr>
              <a:t>45 g/bar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6272784" y="2779776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B3A2A"/>
                </a:solidFill>
              </a:rPr>
              <a:t>Daily Volume: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6272784" y="3044952"/>
            <a:ext cx="26060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1A0E"/>
                </a:solidFill>
              </a:rPr>
              <a:t>1,500 kg/day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6272784" y="3438144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B3A2A"/>
                </a:solidFill>
              </a:rPr>
              <a:t>Key Ingredients: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6272784" y="3703320"/>
            <a:ext cx="26060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1A0E"/>
                </a:solidFill>
              </a:rPr>
              <a:t>Wheat flour, milk-choc coating, cocoa butter, cream filling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6272784" y="409651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B3A2A"/>
                </a:solidFill>
              </a:rPr>
              <a:t>Packaging: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6272784" y="4361688"/>
            <a:ext cx="26060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1A0E"/>
                </a:solidFill>
              </a:rPr>
              <a:t>Flow-wrap plastic with tamper-evident seal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08B7CE8-D6B1-C71D-147B-A2F578DB46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90160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77FBD1D-097E-88FF-F702-05BF4C3881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30141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3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3B1A08"/>
          </a:solidFill>
          <a:ln w="12700">
            <a:solidFill>
              <a:srgbClr val="3B1A0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C9952C"/>
          </a:solidFill>
          <a:ln w="12700">
            <a:solidFill>
              <a:srgbClr val="C9952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73152"/>
            <a:ext cx="8686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3. PROCESS ANALYSIS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201168" y="932688"/>
            <a:ext cx="2084832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C9A87C"/>
            </a:solidFill>
            <a:prstDash val="solid"/>
          </a:ln>
          <a:effectLst>
            <a:outerShdw blurRad="762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01168" y="932688"/>
            <a:ext cx="2084832" cy="402336"/>
          </a:xfrm>
          <a:prstGeom prst="rect">
            <a:avLst/>
          </a:prstGeom>
          <a:solidFill>
            <a:srgbClr val="6B3A2A"/>
          </a:solidFill>
          <a:ln w="12700">
            <a:solidFill>
              <a:srgbClr val="6B3A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969264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</a:rPr>
              <a:t>01  Raw Material Receiving &amp; QC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74320" y="1389888"/>
            <a:ext cx="1920240" cy="1261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2C1A0E"/>
                </a:solidFill>
              </a:rPr>
              <a:t>Cocoa beans, sugar, milk powder, cocoa butter received &amp; sampled for quality specs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286000" y="1801368"/>
            <a:ext cx="146304" cy="0"/>
          </a:xfrm>
          <a:prstGeom prst="line">
            <a:avLst/>
          </a:prstGeom>
          <a:noFill/>
          <a:ln w="12700">
            <a:solidFill>
              <a:srgbClr val="C9952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32304" y="932688"/>
            <a:ext cx="2084832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C9A87C"/>
            </a:solidFill>
            <a:prstDash val="solid"/>
          </a:ln>
          <a:effectLst>
            <a:outerShdw blurRad="762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32304" y="932688"/>
            <a:ext cx="2084832" cy="402336"/>
          </a:xfrm>
          <a:prstGeom prst="rect">
            <a:avLst/>
          </a:prstGeom>
          <a:solidFill>
            <a:srgbClr val="6B3A2A"/>
          </a:solidFill>
          <a:ln w="12700">
            <a:solidFill>
              <a:srgbClr val="6B3A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05456" y="969264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</a:rPr>
              <a:t>02  Mixing &amp; Blending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822192" y="1362456"/>
            <a:ext cx="640080" cy="201168"/>
          </a:xfrm>
          <a:prstGeom prst="rect">
            <a:avLst/>
          </a:prstGeom>
          <a:solidFill>
            <a:srgbClr val="C9952C"/>
          </a:solidFill>
          <a:ln w="12700">
            <a:solidFill>
              <a:srgbClr val="C9952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22192" y="1362456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⏱ 45 min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2505456" y="1389888"/>
            <a:ext cx="1920240" cy="1261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2C1A0E"/>
                </a:solidFill>
              </a:rPr>
              <a:t>Ingredients blended in jacketed vessels at 40–50 °C; moisture controlled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517136" y="1801368"/>
            <a:ext cx="146304" cy="0"/>
          </a:xfrm>
          <a:prstGeom prst="line">
            <a:avLst/>
          </a:prstGeom>
          <a:noFill/>
          <a:ln w="12700">
            <a:solidFill>
              <a:srgbClr val="C9952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63440" y="932688"/>
            <a:ext cx="2084832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C9A87C"/>
            </a:solidFill>
            <a:prstDash val="solid"/>
          </a:ln>
          <a:effectLst>
            <a:outerShdw blurRad="762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932688"/>
            <a:ext cx="2084832" cy="402336"/>
          </a:xfrm>
          <a:prstGeom prst="rect">
            <a:avLst/>
          </a:prstGeom>
          <a:solidFill>
            <a:srgbClr val="6B3A2A"/>
          </a:solidFill>
          <a:ln w="12700">
            <a:solidFill>
              <a:srgbClr val="6B3A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36592" y="969264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</a:rPr>
              <a:t>03  Conching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053328" y="1362456"/>
            <a:ext cx="640080" cy="201168"/>
          </a:xfrm>
          <a:prstGeom prst="rect">
            <a:avLst/>
          </a:prstGeom>
          <a:solidFill>
            <a:srgbClr val="C9952C"/>
          </a:solidFill>
          <a:ln w="12700">
            <a:solidFill>
              <a:srgbClr val="C9952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53328" y="1362456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⏱ 12 hrs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4736592" y="1389888"/>
            <a:ext cx="1920240" cy="1261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2C1A0E"/>
                </a:solidFill>
              </a:rPr>
              <a:t>Continuous kneading develops flavour, reduces viscosity, smooth texture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748272" y="1801368"/>
            <a:ext cx="146304" cy="0"/>
          </a:xfrm>
          <a:prstGeom prst="line">
            <a:avLst/>
          </a:prstGeom>
          <a:noFill/>
          <a:ln w="12700">
            <a:solidFill>
              <a:srgbClr val="C9952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94576" y="932688"/>
            <a:ext cx="2084832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C9A87C"/>
            </a:solidFill>
            <a:prstDash val="solid"/>
          </a:ln>
          <a:effectLst>
            <a:outerShdw blurRad="762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894576" y="932688"/>
            <a:ext cx="2084832" cy="402336"/>
          </a:xfrm>
          <a:prstGeom prst="rect">
            <a:avLst/>
          </a:prstGeom>
          <a:solidFill>
            <a:srgbClr val="6B3A2A"/>
          </a:solidFill>
          <a:ln w="12700">
            <a:solidFill>
              <a:srgbClr val="6B3A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67728" y="969264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</a:rPr>
              <a:t>04  Tempering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8284464" y="1362456"/>
            <a:ext cx="640080" cy="201168"/>
          </a:xfrm>
          <a:prstGeom prst="rect">
            <a:avLst/>
          </a:prstGeom>
          <a:solidFill>
            <a:srgbClr val="C9952C"/>
          </a:solidFill>
          <a:ln w="12700">
            <a:solidFill>
              <a:srgbClr val="C9952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84464" y="1362456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⏱ 30 min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6967728" y="1389888"/>
            <a:ext cx="1920240" cy="1261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2C1A0E"/>
                </a:solidFill>
              </a:rPr>
              <a:t>Controlled cycle 50°C→27°C→31°C; stable β-crystal cocoa butter formation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01168" y="2926080"/>
            <a:ext cx="2084832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C9A87C"/>
            </a:solidFill>
            <a:prstDash val="solid"/>
          </a:ln>
          <a:effectLst>
            <a:outerShdw blurRad="762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01168" y="2926080"/>
            <a:ext cx="2084832" cy="402336"/>
          </a:xfrm>
          <a:prstGeom prst="rect">
            <a:avLst/>
          </a:prstGeom>
          <a:solidFill>
            <a:srgbClr val="6B3A2A"/>
          </a:solidFill>
          <a:ln w="12700">
            <a:solidFill>
              <a:srgbClr val="6B3A2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" y="2962656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</a:rPr>
              <a:t>05  Moulding / Enrobing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1591056" y="3355848"/>
            <a:ext cx="640080" cy="201168"/>
          </a:xfrm>
          <a:prstGeom prst="rect">
            <a:avLst/>
          </a:prstGeom>
          <a:solidFill>
            <a:srgbClr val="C9952C"/>
          </a:solidFill>
          <a:ln w="12700">
            <a:solidFill>
              <a:srgbClr val="C9952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591056" y="3355848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⏱ 20 min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274320" y="3383280"/>
            <a:ext cx="1920240" cy="1261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2C1A0E"/>
                </a:solidFill>
              </a:rPr>
              <a:t>Bars cast in moulds; wafers coated via enrobing belt at 31 °C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2286000" y="3794760"/>
            <a:ext cx="146304" cy="0"/>
          </a:xfrm>
          <a:prstGeom prst="line">
            <a:avLst/>
          </a:prstGeom>
          <a:noFill/>
          <a:ln w="12700">
            <a:solidFill>
              <a:srgbClr val="C9952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432304" y="2926080"/>
            <a:ext cx="2084832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C9A87C"/>
            </a:solidFill>
            <a:prstDash val="solid"/>
          </a:ln>
          <a:effectLst>
            <a:outerShdw blurRad="762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2432304" y="2926080"/>
            <a:ext cx="2084832" cy="402336"/>
          </a:xfrm>
          <a:prstGeom prst="rect">
            <a:avLst/>
          </a:prstGeom>
          <a:solidFill>
            <a:srgbClr val="6B3A2A"/>
          </a:solidFill>
          <a:ln w="12700">
            <a:solidFill>
              <a:srgbClr val="6B3A2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505456" y="2962656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</a:rPr>
              <a:t>06  Cooling Tunnel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3822192" y="3355848"/>
            <a:ext cx="640080" cy="201168"/>
          </a:xfrm>
          <a:prstGeom prst="rect">
            <a:avLst/>
          </a:prstGeom>
          <a:solidFill>
            <a:srgbClr val="C9952C"/>
          </a:solidFill>
          <a:ln w="12700">
            <a:solidFill>
              <a:srgbClr val="C9952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822192" y="3355848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⏱ 15 min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2505456" y="3383280"/>
            <a:ext cx="1920240" cy="1261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2C1A0E"/>
                </a:solidFill>
              </a:rPr>
              <a:t>Conveyor through 10–12 °C tunnel; chocolate sets and contracts for demoulding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517136" y="3794760"/>
            <a:ext cx="146304" cy="0"/>
          </a:xfrm>
          <a:prstGeom prst="line">
            <a:avLst/>
          </a:prstGeom>
          <a:noFill/>
          <a:ln w="12700">
            <a:solidFill>
              <a:srgbClr val="C9952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663440" y="2926080"/>
            <a:ext cx="2084832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C9A87C"/>
            </a:solidFill>
            <a:prstDash val="solid"/>
          </a:ln>
          <a:effectLst>
            <a:outerShdw blurRad="762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663440" y="2926080"/>
            <a:ext cx="2084832" cy="402336"/>
          </a:xfrm>
          <a:prstGeom prst="rect">
            <a:avLst/>
          </a:prstGeom>
          <a:solidFill>
            <a:srgbClr val="6B3A2A"/>
          </a:solidFill>
          <a:ln w="12700">
            <a:solidFill>
              <a:srgbClr val="6B3A2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36592" y="2962656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</a:rPr>
              <a:t>07  Packaging &amp; Labelling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6053328" y="3355848"/>
            <a:ext cx="640080" cy="201168"/>
          </a:xfrm>
          <a:prstGeom prst="rect">
            <a:avLst/>
          </a:prstGeom>
          <a:solidFill>
            <a:srgbClr val="C9952C"/>
          </a:solidFill>
          <a:ln w="12700">
            <a:solidFill>
              <a:srgbClr val="C9952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053328" y="3355848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⏱ 5 min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4736592" y="3383280"/>
            <a:ext cx="1920240" cy="1261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2C1A0E"/>
                </a:solidFill>
              </a:rPr>
              <a:t>Automated wrap, seal, date-code, allergen label and weight check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6748272" y="3794760"/>
            <a:ext cx="146304" cy="0"/>
          </a:xfrm>
          <a:prstGeom prst="line">
            <a:avLst/>
          </a:prstGeom>
          <a:noFill/>
          <a:ln w="12700">
            <a:solidFill>
              <a:srgbClr val="C9952C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894576" y="2926080"/>
            <a:ext cx="2084832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C9A87C"/>
            </a:solidFill>
            <a:prstDash val="solid"/>
          </a:ln>
          <a:effectLst>
            <a:outerShdw blurRad="762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6894576" y="2926080"/>
            <a:ext cx="2084832" cy="402336"/>
          </a:xfrm>
          <a:prstGeom prst="rect">
            <a:avLst/>
          </a:prstGeom>
          <a:solidFill>
            <a:srgbClr val="6B3A2A"/>
          </a:solidFill>
          <a:ln w="12700">
            <a:solidFill>
              <a:srgbClr val="6B3A2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967728" y="2962656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</a:rPr>
              <a:t>08  Finished Goods Storage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6967728" y="3383280"/>
            <a:ext cx="1920240" cy="1261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2C1A0E"/>
                </a:solidFill>
              </a:rPr>
              <a:t>Cold store at 18 °C, 50% RH; FIFO stock rotation before dispatch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2038DCA-1F20-B540-40B1-7CF2188F3F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27205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6B3A2A"/>
          </a:solidFill>
          <a:ln w="12700">
            <a:solidFill>
              <a:srgbClr val="6B3A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C9952C"/>
          </a:solidFill>
          <a:ln w="12700">
            <a:solidFill>
              <a:srgbClr val="C9952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73152"/>
            <a:ext cx="8686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4. EQUIPMENT ANALYSIS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182880" y="877824"/>
            <a:ext cx="2880360" cy="347472"/>
          </a:xfrm>
          <a:prstGeom prst="rect">
            <a:avLst/>
          </a:prstGeom>
          <a:solidFill>
            <a:srgbClr val="3B1A08"/>
          </a:solidFill>
          <a:ln w="12700">
            <a:solidFill>
              <a:srgbClr val="3B1A0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877824"/>
            <a:ext cx="28072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Equipment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3063240" y="877824"/>
            <a:ext cx="502920" cy="347472"/>
          </a:xfrm>
          <a:prstGeom prst="rect">
            <a:avLst/>
          </a:prstGeom>
          <a:solidFill>
            <a:srgbClr val="3B1A08"/>
          </a:solidFill>
          <a:ln w="12700">
            <a:solidFill>
              <a:srgbClr val="3B1A0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08960" y="877824"/>
            <a:ext cx="429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Qty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566160" y="877824"/>
            <a:ext cx="1600200" cy="347472"/>
          </a:xfrm>
          <a:prstGeom prst="rect">
            <a:avLst/>
          </a:prstGeom>
          <a:solidFill>
            <a:srgbClr val="3B1A08"/>
          </a:solidFill>
          <a:ln w="12700">
            <a:solidFill>
              <a:srgbClr val="3B1A0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11880" y="877824"/>
            <a:ext cx="1527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Capacity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166360" y="877824"/>
            <a:ext cx="1005840" cy="347472"/>
          </a:xfrm>
          <a:prstGeom prst="rect">
            <a:avLst/>
          </a:prstGeom>
          <a:solidFill>
            <a:srgbClr val="3B1A08"/>
          </a:solidFill>
          <a:ln w="12700">
            <a:solidFill>
              <a:srgbClr val="3B1A0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12080" y="877824"/>
            <a:ext cx="9326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Power (kW)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877824"/>
            <a:ext cx="2834640" cy="347472"/>
          </a:xfrm>
          <a:prstGeom prst="rect">
            <a:avLst/>
          </a:prstGeom>
          <a:solidFill>
            <a:srgbClr val="3B1A08"/>
          </a:solidFill>
          <a:ln w="12700">
            <a:solidFill>
              <a:srgbClr val="3B1A0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877824"/>
            <a:ext cx="27614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Dimensions (L×W×H m)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82880" y="1225296"/>
            <a:ext cx="2880360" cy="374904"/>
          </a:xfrm>
          <a:prstGeom prst="rect">
            <a:avLst/>
          </a:prstGeom>
          <a:solidFill>
            <a:srgbClr val="F5F0EB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37744" y="1225296"/>
            <a:ext cx="278892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2C1A0E"/>
                </a:solidFill>
              </a:rPr>
              <a:t>Mixing &amp; Blending Vessel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063240" y="1225296"/>
            <a:ext cx="502920" cy="374904"/>
          </a:xfrm>
          <a:prstGeom prst="rect">
            <a:avLst/>
          </a:prstGeom>
          <a:solidFill>
            <a:srgbClr val="F5F0EB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18104" y="1225296"/>
            <a:ext cx="41148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2C1A0E"/>
                </a:solidFill>
              </a:rPr>
              <a:t>2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566160" y="1225296"/>
            <a:ext cx="1600200" cy="374904"/>
          </a:xfrm>
          <a:prstGeom prst="rect">
            <a:avLst/>
          </a:prstGeom>
          <a:solidFill>
            <a:srgbClr val="F5F0EB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21024" y="1225296"/>
            <a:ext cx="150876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C1A0E"/>
                </a:solidFill>
              </a:rPr>
              <a:t>500 kg/batch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166360" y="1225296"/>
            <a:ext cx="1005840" cy="374904"/>
          </a:xfrm>
          <a:prstGeom prst="rect">
            <a:avLst/>
          </a:prstGeom>
          <a:solidFill>
            <a:srgbClr val="F5F0EB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21224" y="1225296"/>
            <a:ext cx="91440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C1A0E"/>
                </a:solidFill>
              </a:rPr>
              <a:t>15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1225296"/>
            <a:ext cx="2834640" cy="374904"/>
          </a:xfrm>
          <a:prstGeom prst="rect">
            <a:avLst/>
          </a:prstGeom>
          <a:solidFill>
            <a:srgbClr val="F5F0EB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27064" y="1225296"/>
            <a:ext cx="274320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C1A0E"/>
                </a:solidFill>
              </a:rPr>
              <a:t>2.0 × 1.5 × 2.2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182880" y="1600200"/>
            <a:ext cx="288036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7744" y="1600200"/>
            <a:ext cx="278892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2C1A0E"/>
                </a:solidFill>
              </a:rPr>
              <a:t>Conching Machine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063240" y="1600200"/>
            <a:ext cx="50292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118104" y="1600200"/>
            <a:ext cx="41148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2C1A0E"/>
                </a:solidFill>
              </a:rPr>
              <a:t>3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566160" y="1600200"/>
            <a:ext cx="160020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21024" y="1600200"/>
            <a:ext cx="150876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C1A0E"/>
                </a:solidFill>
              </a:rPr>
              <a:t>1,000 kg/batch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166360" y="1600200"/>
            <a:ext cx="100584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21224" y="1600200"/>
            <a:ext cx="91440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C1A0E"/>
                </a:solidFill>
              </a:rPr>
              <a:t>45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1600200"/>
            <a:ext cx="283464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27064" y="1600200"/>
            <a:ext cx="274320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C1A0E"/>
                </a:solidFill>
              </a:rPr>
              <a:t>4.0 × 2.0 × 1.8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182880" y="1975104"/>
            <a:ext cx="2880360" cy="374904"/>
          </a:xfrm>
          <a:prstGeom prst="rect">
            <a:avLst/>
          </a:prstGeom>
          <a:solidFill>
            <a:srgbClr val="F5F0EB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37744" y="1975104"/>
            <a:ext cx="278892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2C1A0E"/>
                </a:solidFill>
              </a:rPr>
              <a:t>Tempering Machine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063240" y="1975104"/>
            <a:ext cx="502920" cy="374904"/>
          </a:xfrm>
          <a:prstGeom prst="rect">
            <a:avLst/>
          </a:prstGeom>
          <a:solidFill>
            <a:srgbClr val="F5F0EB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118104" y="1975104"/>
            <a:ext cx="41148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2C1A0E"/>
                </a:solidFill>
              </a:rPr>
              <a:t>2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3566160" y="1975104"/>
            <a:ext cx="1600200" cy="374904"/>
          </a:xfrm>
          <a:prstGeom prst="rect">
            <a:avLst/>
          </a:prstGeom>
          <a:solidFill>
            <a:srgbClr val="F5F0EB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21024" y="1975104"/>
            <a:ext cx="150876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C1A0E"/>
                </a:solidFill>
              </a:rPr>
              <a:t>800 kg/hr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5166360" y="1975104"/>
            <a:ext cx="1005840" cy="374904"/>
          </a:xfrm>
          <a:prstGeom prst="rect">
            <a:avLst/>
          </a:prstGeom>
          <a:solidFill>
            <a:srgbClr val="F5F0EB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221224" y="1975104"/>
            <a:ext cx="91440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C1A0E"/>
                </a:solidFill>
              </a:rPr>
              <a:t>22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6172200" y="1975104"/>
            <a:ext cx="2834640" cy="374904"/>
          </a:xfrm>
          <a:prstGeom prst="rect">
            <a:avLst/>
          </a:prstGeom>
          <a:solidFill>
            <a:srgbClr val="F5F0EB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227064" y="1975104"/>
            <a:ext cx="274320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C1A0E"/>
                </a:solidFill>
              </a:rPr>
              <a:t>3.5 × 1.2 × 1.5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182880" y="2350008"/>
            <a:ext cx="288036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37744" y="2350008"/>
            <a:ext cx="278892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2C1A0E"/>
                </a:solidFill>
              </a:rPr>
              <a:t>Bar Moulding Line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3063240" y="2350008"/>
            <a:ext cx="50292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118104" y="2350008"/>
            <a:ext cx="41148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2C1A0E"/>
                </a:solidFill>
              </a:rPr>
              <a:t>1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3566160" y="2350008"/>
            <a:ext cx="160020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621024" y="2350008"/>
            <a:ext cx="150876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C1A0E"/>
                </a:solidFill>
              </a:rPr>
              <a:t>2,000 bars/hr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5166360" y="2350008"/>
            <a:ext cx="100584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221224" y="2350008"/>
            <a:ext cx="91440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C1A0E"/>
                </a:solidFill>
              </a:rPr>
              <a:t>35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6172200" y="2350008"/>
            <a:ext cx="283464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227064" y="2350008"/>
            <a:ext cx="274320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C1A0E"/>
                </a:solidFill>
              </a:rPr>
              <a:t>8.0 × 1.0 × 1.6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182880" y="2724912"/>
            <a:ext cx="2880360" cy="374904"/>
          </a:xfrm>
          <a:prstGeom prst="rect">
            <a:avLst/>
          </a:prstGeom>
          <a:solidFill>
            <a:srgbClr val="F5F0EB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37744" y="2724912"/>
            <a:ext cx="278892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2C1A0E"/>
                </a:solidFill>
              </a:rPr>
              <a:t>Chocolate Enrober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3063240" y="2724912"/>
            <a:ext cx="502920" cy="374904"/>
          </a:xfrm>
          <a:prstGeom prst="rect">
            <a:avLst/>
          </a:prstGeom>
          <a:solidFill>
            <a:srgbClr val="F5F0EB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118104" y="2724912"/>
            <a:ext cx="41148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2C1A0E"/>
                </a:solidFill>
              </a:rPr>
              <a:t>1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3566160" y="2724912"/>
            <a:ext cx="1600200" cy="374904"/>
          </a:xfrm>
          <a:prstGeom prst="rect">
            <a:avLst/>
          </a:prstGeom>
          <a:solidFill>
            <a:srgbClr val="F5F0EB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621024" y="2724912"/>
            <a:ext cx="150876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C1A0E"/>
                </a:solidFill>
              </a:rPr>
              <a:t>300 kg/hr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5166360" y="2724912"/>
            <a:ext cx="1005840" cy="374904"/>
          </a:xfrm>
          <a:prstGeom prst="rect">
            <a:avLst/>
          </a:prstGeom>
          <a:solidFill>
            <a:srgbClr val="F5F0EB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221224" y="2724912"/>
            <a:ext cx="91440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C1A0E"/>
                </a:solidFill>
              </a:rPr>
              <a:t>18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6172200" y="2724912"/>
            <a:ext cx="2834640" cy="374904"/>
          </a:xfrm>
          <a:prstGeom prst="rect">
            <a:avLst/>
          </a:prstGeom>
          <a:solidFill>
            <a:srgbClr val="F5F0EB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227064" y="2724912"/>
            <a:ext cx="274320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C1A0E"/>
                </a:solidFill>
              </a:rPr>
              <a:t>5.0 × 1.5 × 1.4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182880" y="3099816"/>
            <a:ext cx="288036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37744" y="3099816"/>
            <a:ext cx="278892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2C1A0E"/>
                </a:solidFill>
              </a:rPr>
              <a:t>Cooling Tunnel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3063240" y="3099816"/>
            <a:ext cx="50292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118104" y="3099816"/>
            <a:ext cx="41148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2C1A0E"/>
                </a:solidFill>
              </a:rPr>
              <a:t>2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3566160" y="3099816"/>
            <a:ext cx="160020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621024" y="3099816"/>
            <a:ext cx="150876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C1A0E"/>
                </a:solidFill>
              </a:rPr>
              <a:t>500 kg/hr ea.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5166360" y="3099816"/>
            <a:ext cx="100584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221224" y="3099816"/>
            <a:ext cx="91440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C1A0E"/>
                </a:solidFill>
              </a:rPr>
              <a:t>12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6172200" y="3099816"/>
            <a:ext cx="283464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227064" y="3099816"/>
            <a:ext cx="274320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C1A0E"/>
                </a:solidFill>
              </a:rPr>
              <a:t>10.0 × 1.2 × 1.5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182880" y="3474720"/>
            <a:ext cx="2880360" cy="374904"/>
          </a:xfrm>
          <a:prstGeom prst="rect">
            <a:avLst/>
          </a:prstGeom>
          <a:solidFill>
            <a:srgbClr val="F5F0EB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237744" y="3474720"/>
            <a:ext cx="278892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2C1A0E"/>
                </a:solidFill>
              </a:rPr>
              <a:t>Flow-Wrap Packaging Machine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3063240" y="3474720"/>
            <a:ext cx="502920" cy="374904"/>
          </a:xfrm>
          <a:prstGeom prst="rect">
            <a:avLst/>
          </a:prstGeom>
          <a:solidFill>
            <a:srgbClr val="F5F0EB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3118104" y="3474720"/>
            <a:ext cx="41148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2C1A0E"/>
                </a:solidFill>
              </a:rPr>
              <a:t>3</a:t>
            </a:r>
            <a:endParaRPr lang="en-US" sz="850" dirty="0"/>
          </a:p>
        </p:txBody>
      </p:sp>
      <p:sp>
        <p:nvSpPr>
          <p:cNvPr id="79" name="Shape 77"/>
          <p:cNvSpPr/>
          <p:nvPr/>
        </p:nvSpPr>
        <p:spPr>
          <a:xfrm>
            <a:off x="3566160" y="3474720"/>
            <a:ext cx="1600200" cy="374904"/>
          </a:xfrm>
          <a:prstGeom prst="rect">
            <a:avLst/>
          </a:prstGeom>
          <a:solidFill>
            <a:srgbClr val="F5F0EB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3621024" y="3474720"/>
            <a:ext cx="150876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C1A0E"/>
                </a:solidFill>
              </a:rPr>
              <a:t>120 pcs/min</a:t>
            </a:r>
            <a:endParaRPr lang="en-US" sz="850" dirty="0"/>
          </a:p>
        </p:txBody>
      </p:sp>
      <p:sp>
        <p:nvSpPr>
          <p:cNvPr id="81" name="Shape 79"/>
          <p:cNvSpPr/>
          <p:nvPr/>
        </p:nvSpPr>
        <p:spPr>
          <a:xfrm>
            <a:off x="5166360" y="3474720"/>
            <a:ext cx="1005840" cy="374904"/>
          </a:xfrm>
          <a:prstGeom prst="rect">
            <a:avLst/>
          </a:prstGeom>
          <a:solidFill>
            <a:srgbClr val="F5F0EB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5221224" y="3474720"/>
            <a:ext cx="91440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C1A0E"/>
                </a:solidFill>
              </a:rPr>
              <a:t>8</a:t>
            </a:r>
            <a:endParaRPr lang="en-US" sz="850" dirty="0"/>
          </a:p>
        </p:txBody>
      </p:sp>
      <p:sp>
        <p:nvSpPr>
          <p:cNvPr id="83" name="Shape 81"/>
          <p:cNvSpPr/>
          <p:nvPr/>
        </p:nvSpPr>
        <p:spPr>
          <a:xfrm>
            <a:off x="6172200" y="3474720"/>
            <a:ext cx="2834640" cy="374904"/>
          </a:xfrm>
          <a:prstGeom prst="rect">
            <a:avLst/>
          </a:prstGeom>
          <a:solidFill>
            <a:srgbClr val="F5F0EB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6227064" y="3474720"/>
            <a:ext cx="274320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C1A0E"/>
                </a:solidFill>
              </a:rPr>
              <a:t>3.0 × 1.0 × 1.5</a:t>
            </a:r>
            <a:endParaRPr lang="en-US" sz="850" dirty="0"/>
          </a:p>
        </p:txBody>
      </p:sp>
      <p:sp>
        <p:nvSpPr>
          <p:cNvPr id="85" name="Shape 83"/>
          <p:cNvSpPr/>
          <p:nvPr/>
        </p:nvSpPr>
        <p:spPr>
          <a:xfrm>
            <a:off x="182880" y="3849624"/>
            <a:ext cx="288036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237744" y="3849624"/>
            <a:ext cx="278892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2C1A0E"/>
                </a:solidFill>
              </a:rPr>
              <a:t>Truffle Depositor</a:t>
            </a:r>
            <a:endParaRPr lang="en-US" sz="850" dirty="0"/>
          </a:p>
        </p:txBody>
      </p:sp>
      <p:sp>
        <p:nvSpPr>
          <p:cNvPr id="87" name="Shape 85"/>
          <p:cNvSpPr/>
          <p:nvPr/>
        </p:nvSpPr>
        <p:spPr>
          <a:xfrm>
            <a:off x="3063240" y="3849624"/>
            <a:ext cx="50292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3118104" y="3849624"/>
            <a:ext cx="41148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2C1A0E"/>
                </a:solidFill>
              </a:rPr>
              <a:t>1</a:t>
            </a:r>
            <a:endParaRPr lang="en-US" sz="850" dirty="0"/>
          </a:p>
        </p:txBody>
      </p:sp>
      <p:sp>
        <p:nvSpPr>
          <p:cNvPr id="89" name="Shape 87"/>
          <p:cNvSpPr/>
          <p:nvPr/>
        </p:nvSpPr>
        <p:spPr>
          <a:xfrm>
            <a:off x="3566160" y="3849624"/>
            <a:ext cx="160020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3621024" y="3849624"/>
            <a:ext cx="150876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C1A0E"/>
                </a:solidFill>
              </a:rPr>
              <a:t>150 kg/hr</a:t>
            </a:r>
            <a:endParaRPr lang="en-US" sz="850" dirty="0"/>
          </a:p>
        </p:txBody>
      </p:sp>
      <p:sp>
        <p:nvSpPr>
          <p:cNvPr id="91" name="Shape 89"/>
          <p:cNvSpPr/>
          <p:nvPr/>
        </p:nvSpPr>
        <p:spPr>
          <a:xfrm>
            <a:off x="5166360" y="3849624"/>
            <a:ext cx="100584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5221224" y="3849624"/>
            <a:ext cx="91440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C1A0E"/>
                </a:solidFill>
              </a:rPr>
              <a:t>10</a:t>
            </a:r>
            <a:endParaRPr lang="en-US" sz="850" dirty="0"/>
          </a:p>
        </p:txBody>
      </p:sp>
      <p:sp>
        <p:nvSpPr>
          <p:cNvPr id="93" name="Shape 91"/>
          <p:cNvSpPr/>
          <p:nvPr/>
        </p:nvSpPr>
        <p:spPr>
          <a:xfrm>
            <a:off x="6172200" y="3849624"/>
            <a:ext cx="283464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6227064" y="3849624"/>
            <a:ext cx="274320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C1A0E"/>
                </a:solidFill>
              </a:rPr>
              <a:t>2.5 × 1.0 × 1.6</a:t>
            </a:r>
            <a:endParaRPr lang="en-US" sz="850" dirty="0"/>
          </a:p>
        </p:txBody>
      </p:sp>
      <p:sp>
        <p:nvSpPr>
          <p:cNvPr id="95" name="Shape 93"/>
          <p:cNvSpPr/>
          <p:nvPr/>
        </p:nvSpPr>
        <p:spPr>
          <a:xfrm>
            <a:off x="182880" y="4224528"/>
            <a:ext cx="2880360" cy="374904"/>
          </a:xfrm>
          <a:prstGeom prst="rect">
            <a:avLst/>
          </a:prstGeom>
          <a:solidFill>
            <a:srgbClr val="F5F0EB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237744" y="4224528"/>
            <a:ext cx="278892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2C1A0E"/>
                </a:solidFill>
              </a:rPr>
              <a:t>Foil Wrapping Machine</a:t>
            </a:r>
            <a:endParaRPr lang="en-US" sz="850" dirty="0"/>
          </a:p>
        </p:txBody>
      </p:sp>
      <p:sp>
        <p:nvSpPr>
          <p:cNvPr id="97" name="Shape 95"/>
          <p:cNvSpPr/>
          <p:nvPr/>
        </p:nvSpPr>
        <p:spPr>
          <a:xfrm>
            <a:off x="3063240" y="4224528"/>
            <a:ext cx="502920" cy="374904"/>
          </a:xfrm>
          <a:prstGeom prst="rect">
            <a:avLst/>
          </a:prstGeom>
          <a:solidFill>
            <a:srgbClr val="F5F0EB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3118104" y="4224528"/>
            <a:ext cx="41148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2C1A0E"/>
                </a:solidFill>
              </a:rPr>
              <a:t>2</a:t>
            </a:r>
            <a:endParaRPr lang="en-US" sz="850" dirty="0"/>
          </a:p>
        </p:txBody>
      </p:sp>
      <p:sp>
        <p:nvSpPr>
          <p:cNvPr id="99" name="Shape 97"/>
          <p:cNvSpPr/>
          <p:nvPr/>
        </p:nvSpPr>
        <p:spPr>
          <a:xfrm>
            <a:off x="3566160" y="4224528"/>
            <a:ext cx="1600200" cy="374904"/>
          </a:xfrm>
          <a:prstGeom prst="rect">
            <a:avLst/>
          </a:prstGeom>
          <a:solidFill>
            <a:srgbClr val="F5F0EB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3621024" y="4224528"/>
            <a:ext cx="150876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C1A0E"/>
                </a:solidFill>
              </a:rPr>
              <a:t>200 pcs/min</a:t>
            </a:r>
            <a:endParaRPr lang="en-US" sz="850" dirty="0"/>
          </a:p>
        </p:txBody>
      </p:sp>
      <p:sp>
        <p:nvSpPr>
          <p:cNvPr id="101" name="Shape 99"/>
          <p:cNvSpPr/>
          <p:nvPr/>
        </p:nvSpPr>
        <p:spPr>
          <a:xfrm>
            <a:off x="5166360" y="4224528"/>
            <a:ext cx="1005840" cy="374904"/>
          </a:xfrm>
          <a:prstGeom prst="rect">
            <a:avLst/>
          </a:prstGeom>
          <a:solidFill>
            <a:srgbClr val="F5F0EB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5221224" y="4224528"/>
            <a:ext cx="91440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C1A0E"/>
                </a:solidFill>
              </a:rPr>
              <a:t>7</a:t>
            </a:r>
            <a:endParaRPr lang="en-US" sz="850" dirty="0"/>
          </a:p>
        </p:txBody>
      </p:sp>
      <p:sp>
        <p:nvSpPr>
          <p:cNvPr id="103" name="Shape 101"/>
          <p:cNvSpPr/>
          <p:nvPr/>
        </p:nvSpPr>
        <p:spPr>
          <a:xfrm>
            <a:off x="6172200" y="4224528"/>
            <a:ext cx="2834640" cy="374904"/>
          </a:xfrm>
          <a:prstGeom prst="rect">
            <a:avLst/>
          </a:prstGeom>
          <a:solidFill>
            <a:srgbClr val="F5F0EB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6227064" y="4224528"/>
            <a:ext cx="274320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C1A0E"/>
                </a:solidFill>
              </a:rPr>
              <a:t>2.0 × 0.8 × 1.4</a:t>
            </a:r>
            <a:endParaRPr lang="en-US" sz="850" dirty="0"/>
          </a:p>
        </p:txBody>
      </p:sp>
      <p:sp>
        <p:nvSpPr>
          <p:cNvPr id="105" name="Shape 103"/>
          <p:cNvSpPr/>
          <p:nvPr/>
        </p:nvSpPr>
        <p:spPr>
          <a:xfrm>
            <a:off x="182880" y="4599432"/>
            <a:ext cx="288036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237744" y="4599432"/>
            <a:ext cx="278892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2C1A0E"/>
                </a:solidFill>
              </a:rPr>
              <a:t>QC Checkweigher</a:t>
            </a:r>
            <a:endParaRPr lang="en-US" sz="850" dirty="0"/>
          </a:p>
        </p:txBody>
      </p:sp>
      <p:sp>
        <p:nvSpPr>
          <p:cNvPr id="107" name="Shape 105"/>
          <p:cNvSpPr/>
          <p:nvPr/>
        </p:nvSpPr>
        <p:spPr>
          <a:xfrm>
            <a:off x="3063240" y="4599432"/>
            <a:ext cx="50292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3118104" y="4599432"/>
            <a:ext cx="41148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2C1A0E"/>
                </a:solidFill>
              </a:rPr>
              <a:t>3</a:t>
            </a:r>
            <a:endParaRPr lang="en-US" sz="850" dirty="0"/>
          </a:p>
        </p:txBody>
      </p:sp>
      <p:sp>
        <p:nvSpPr>
          <p:cNvPr id="109" name="Shape 107"/>
          <p:cNvSpPr/>
          <p:nvPr/>
        </p:nvSpPr>
        <p:spPr>
          <a:xfrm>
            <a:off x="3566160" y="4599432"/>
            <a:ext cx="160020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3621024" y="4599432"/>
            <a:ext cx="150876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C1A0E"/>
                </a:solidFill>
              </a:rPr>
              <a:t>Inline</a:t>
            </a:r>
            <a:endParaRPr lang="en-US" sz="850" dirty="0"/>
          </a:p>
        </p:txBody>
      </p:sp>
      <p:sp>
        <p:nvSpPr>
          <p:cNvPr id="111" name="Shape 109"/>
          <p:cNvSpPr/>
          <p:nvPr/>
        </p:nvSpPr>
        <p:spPr>
          <a:xfrm>
            <a:off x="5166360" y="4599432"/>
            <a:ext cx="100584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5221224" y="4599432"/>
            <a:ext cx="91440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C1A0E"/>
                </a:solidFill>
              </a:rPr>
              <a:t>1</a:t>
            </a:r>
            <a:endParaRPr lang="en-US" sz="850" dirty="0"/>
          </a:p>
        </p:txBody>
      </p:sp>
      <p:sp>
        <p:nvSpPr>
          <p:cNvPr id="113" name="Shape 111"/>
          <p:cNvSpPr/>
          <p:nvPr/>
        </p:nvSpPr>
        <p:spPr>
          <a:xfrm>
            <a:off x="6172200" y="4599432"/>
            <a:ext cx="283464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6227064" y="4599432"/>
            <a:ext cx="274320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C1A0E"/>
                </a:solidFill>
              </a:rPr>
              <a:t>1.0 × 0.6 × 1.2</a:t>
            </a:r>
            <a:endParaRPr lang="en-US" sz="850" dirty="0"/>
          </a:p>
        </p:txBody>
      </p:sp>
      <p:sp>
        <p:nvSpPr>
          <p:cNvPr id="115" name="Shape 113"/>
          <p:cNvSpPr/>
          <p:nvPr/>
        </p:nvSpPr>
        <p:spPr>
          <a:xfrm>
            <a:off x="182880" y="4974336"/>
            <a:ext cx="8823960" cy="18288"/>
          </a:xfrm>
          <a:prstGeom prst="rect">
            <a:avLst/>
          </a:prstGeom>
          <a:solidFill>
            <a:srgbClr val="C9A87C"/>
          </a:solidFill>
          <a:ln w="12700">
            <a:solidFill>
              <a:srgbClr val="C9A87C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3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3B1A08"/>
          </a:solidFill>
          <a:ln w="12700">
            <a:solidFill>
              <a:srgbClr val="3B1A0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C9952C"/>
          </a:solidFill>
          <a:ln w="12700">
            <a:solidFill>
              <a:srgbClr val="C9952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73152"/>
            <a:ext cx="8686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5. MACHINE DIMENSIONS — Top-View Footprints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201168" y="841248"/>
            <a:ext cx="8732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3A2A"/>
                </a:solidFill>
              </a:rPr>
              <a:t>Scaled floor footprints (scale: 1 grid unit ≈ 1 m). Each box shows L × W (m) and unit area.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01168" y="1170432"/>
            <a:ext cx="133502" cy="100127"/>
          </a:xfrm>
          <a:prstGeom prst="rect">
            <a:avLst/>
          </a:prstGeom>
          <a:solidFill>
            <a:srgbClr val="8B4513">
              <a:alpha val="85000"/>
            </a:srgbClr>
          </a:solidFill>
          <a:ln w="12700">
            <a:solidFill>
              <a:srgbClr val="8B451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1168" y="1170432"/>
            <a:ext cx="133502" cy="1001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Mixing Vessel</a:t>
            </a:r>
            <a:endParaRPr lang="en-US" sz="700" dirty="0"/>
          </a:p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(×2)</a:t>
            </a:r>
            <a:endParaRPr lang="en-US" sz="700" dirty="0"/>
          </a:p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2×1.5 m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201168" y="1288847"/>
            <a:ext cx="13350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B3A2A"/>
                </a:solidFill>
              </a:rPr>
              <a:t>2 m →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1298448" y="1170432"/>
            <a:ext cx="267005" cy="133502"/>
          </a:xfrm>
          <a:prstGeom prst="rect">
            <a:avLst/>
          </a:prstGeom>
          <a:solidFill>
            <a:srgbClr val="6B3A2A">
              <a:alpha val="85000"/>
            </a:srgbClr>
          </a:solidFill>
          <a:ln w="12700">
            <a:solidFill>
              <a:srgbClr val="6B3A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98448" y="1170432"/>
            <a:ext cx="267005" cy="1335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Conching</a:t>
            </a:r>
            <a:endParaRPr lang="en-US" sz="700" dirty="0"/>
          </a:p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(×3)</a:t>
            </a:r>
            <a:endParaRPr lang="en-US" sz="700" dirty="0"/>
          </a:p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4×2 m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1298448" y="1322222"/>
            <a:ext cx="267005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B3A2A"/>
                </a:solidFill>
              </a:rPr>
              <a:t>4 m →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3474720" y="1170432"/>
            <a:ext cx="233629" cy="80101"/>
          </a:xfrm>
          <a:prstGeom prst="rect">
            <a:avLst/>
          </a:prstGeom>
          <a:solidFill>
            <a:srgbClr val="9B5A3A">
              <a:alpha val="85000"/>
            </a:srgbClr>
          </a:solidFill>
          <a:ln w="12700">
            <a:solidFill>
              <a:srgbClr val="9B5A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0" y="1170432"/>
            <a:ext cx="233629" cy="801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Tempering</a:t>
            </a:r>
            <a:endParaRPr lang="en-US" sz="700" dirty="0"/>
          </a:p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(×2)</a:t>
            </a:r>
            <a:endParaRPr lang="en-US" sz="700" dirty="0"/>
          </a:p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3.5×1.2 m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3474720" y="1268821"/>
            <a:ext cx="233629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B3A2A"/>
                </a:solidFill>
              </a:rPr>
              <a:t>3.5 m →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201168" y="2304288"/>
            <a:ext cx="534010" cy="66751"/>
          </a:xfrm>
          <a:prstGeom prst="rect">
            <a:avLst/>
          </a:prstGeom>
          <a:solidFill>
            <a:srgbClr val="5C3317">
              <a:alpha val="85000"/>
            </a:srgbClr>
          </a:solidFill>
          <a:ln w="12700">
            <a:solidFill>
              <a:srgbClr val="5C331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01168" y="2304288"/>
            <a:ext cx="534010" cy="667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Moulding Line</a:t>
            </a:r>
            <a:endParaRPr lang="en-US" sz="700" dirty="0"/>
          </a:p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(×1)</a:t>
            </a:r>
            <a:endParaRPr lang="en-US" sz="700" dirty="0"/>
          </a:p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8×1 m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201168" y="2389327"/>
            <a:ext cx="53401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B3A2A"/>
                </a:solidFill>
              </a:rPr>
              <a:t>8 m →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201168" y="3310128"/>
            <a:ext cx="333756" cy="100127"/>
          </a:xfrm>
          <a:prstGeom prst="rect">
            <a:avLst/>
          </a:prstGeom>
          <a:solidFill>
            <a:srgbClr val="7B4A2A">
              <a:alpha val="85000"/>
            </a:srgbClr>
          </a:solidFill>
          <a:ln w="12700">
            <a:solidFill>
              <a:srgbClr val="7B4A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01168" y="3310128"/>
            <a:ext cx="333756" cy="1001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Enrober</a:t>
            </a:r>
            <a:endParaRPr lang="en-US" sz="700" dirty="0"/>
          </a:p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(×1)</a:t>
            </a:r>
            <a:endParaRPr lang="en-US" sz="700" dirty="0"/>
          </a:p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5×1.5 m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201168" y="3428543"/>
            <a:ext cx="33375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B3A2A"/>
                </a:solidFill>
              </a:rPr>
              <a:t>5 m →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3474720" y="2304288"/>
            <a:ext cx="667512" cy="80101"/>
          </a:xfrm>
          <a:prstGeom prst="rect">
            <a:avLst/>
          </a:prstGeom>
          <a:solidFill>
            <a:srgbClr val="4A2810">
              <a:alpha val="85000"/>
            </a:srgbClr>
          </a:solidFill>
          <a:ln w="12700">
            <a:solidFill>
              <a:srgbClr val="4A281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2304288"/>
            <a:ext cx="667512" cy="801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Cooling Tunnel</a:t>
            </a:r>
            <a:endParaRPr lang="en-US" sz="700" dirty="0"/>
          </a:p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(×2)</a:t>
            </a:r>
            <a:endParaRPr lang="en-US" sz="700" dirty="0"/>
          </a:p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10×1.2 m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3474720" y="2402677"/>
            <a:ext cx="66751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B3A2A"/>
                </a:solidFill>
              </a:rPr>
              <a:t>10 m →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3474720" y="3310128"/>
            <a:ext cx="200254" cy="66751"/>
          </a:xfrm>
          <a:prstGeom prst="rect">
            <a:avLst/>
          </a:prstGeom>
          <a:solidFill>
            <a:srgbClr val="A06030">
              <a:alpha val="85000"/>
            </a:srgbClr>
          </a:solidFill>
          <a:ln w="12700">
            <a:solidFill>
              <a:srgbClr val="A0603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74720" y="3310128"/>
            <a:ext cx="200254" cy="667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Packaging</a:t>
            </a:r>
            <a:endParaRPr lang="en-US" sz="700" dirty="0"/>
          </a:p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(×3)</a:t>
            </a:r>
            <a:endParaRPr lang="en-US" sz="700" dirty="0"/>
          </a:p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3×1 m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3474720" y="3395167"/>
            <a:ext cx="20025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B3A2A"/>
                </a:solidFill>
              </a:rPr>
              <a:t>3 m →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5715000" y="1170432"/>
            <a:ext cx="3218688" cy="3822192"/>
          </a:xfrm>
          <a:prstGeom prst="rect">
            <a:avLst/>
          </a:prstGeom>
          <a:solidFill>
            <a:srgbClr val="FFFFFF"/>
          </a:solidFill>
          <a:ln w="12700">
            <a:solidFill>
              <a:srgbClr val="C9A87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779008" y="1207008"/>
            <a:ext cx="3090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1A08"/>
                </a:solidFill>
              </a:rPr>
              <a:t>Footprint Summary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742432" y="1572768"/>
            <a:ext cx="3154680" cy="338328"/>
          </a:xfrm>
          <a:prstGeom prst="rect">
            <a:avLst/>
          </a:prstGeom>
          <a:solidFill>
            <a:srgbClr val="F5F0EB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06440" y="1581912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3A2A"/>
                </a:solidFill>
              </a:rPr>
              <a:t>Mixing Vessel (×2)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7498080" y="1581912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2C1A0E"/>
                </a:solidFill>
              </a:rPr>
              <a:t>2.0×1.5 = 3.0 m²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742432" y="1920240"/>
            <a:ext cx="315468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806440" y="1929384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3A2A"/>
                </a:solidFill>
              </a:rPr>
              <a:t>Conching Machine (×3)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7498080" y="1929384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2C1A0E"/>
                </a:solidFill>
              </a:rPr>
              <a:t>4.0×2.0 = 8.0 m²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742432" y="2267712"/>
            <a:ext cx="3154680" cy="338328"/>
          </a:xfrm>
          <a:prstGeom prst="rect">
            <a:avLst/>
          </a:prstGeom>
          <a:solidFill>
            <a:srgbClr val="F5F0EB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806440" y="2276856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3A2A"/>
                </a:solidFill>
              </a:rPr>
              <a:t>Tempering (×2)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7498080" y="2276856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2C1A0E"/>
                </a:solidFill>
              </a:rPr>
              <a:t>3.5×1.2 = 4.2 m²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5742432" y="2615184"/>
            <a:ext cx="315468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806440" y="2624328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3A2A"/>
                </a:solidFill>
              </a:rPr>
              <a:t>Moulding Line (×1)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7498080" y="2624328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2C1A0E"/>
                </a:solidFill>
              </a:rPr>
              <a:t>8.0×1.0 = 8.0 m²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5742432" y="2962656"/>
            <a:ext cx="3154680" cy="338328"/>
          </a:xfrm>
          <a:prstGeom prst="rect">
            <a:avLst/>
          </a:prstGeom>
          <a:solidFill>
            <a:srgbClr val="F5F0EB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806440" y="297180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3A2A"/>
                </a:solidFill>
              </a:rPr>
              <a:t>Enrober (×1)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7498080" y="297180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2C1A0E"/>
                </a:solidFill>
              </a:rPr>
              <a:t>5.0×1.5 = 7.5 m²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5742432" y="3310128"/>
            <a:ext cx="315468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806440" y="3319272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3A2A"/>
                </a:solidFill>
              </a:rPr>
              <a:t>Cooling Tunnel (×2)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7498080" y="3319272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2C1A0E"/>
                </a:solidFill>
              </a:rPr>
              <a:t>10.0×1.2 = 12.0 m²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5742432" y="3657600"/>
            <a:ext cx="3154680" cy="338328"/>
          </a:xfrm>
          <a:prstGeom prst="rect">
            <a:avLst/>
          </a:prstGeom>
          <a:solidFill>
            <a:srgbClr val="F5F0EB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806440" y="3666744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3A2A"/>
                </a:solidFill>
              </a:rPr>
              <a:t>Packaging (×3)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7498080" y="3666744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2C1A0E"/>
                </a:solidFill>
              </a:rPr>
              <a:t>3.0×1.0 = 3.0 m²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5742432" y="4005072"/>
            <a:ext cx="3154680" cy="338328"/>
          </a:xfrm>
          <a:prstGeom prst="rect">
            <a:avLst/>
          </a:prstGeom>
          <a:solidFill>
            <a:srgbClr val="C9952C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806440" y="4014216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Total Equipment Area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7498080" y="4014216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FFFFFF"/>
                </a:solidFill>
              </a:rPr>
              <a:t>≈ 45.7 m²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6B3A2A"/>
          </a:solidFill>
          <a:ln w="12700">
            <a:solidFill>
              <a:srgbClr val="6B3A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C9952C"/>
          </a:solidFill>
          <a:ln w="12700">
            <a:solidFill>
              <a:srgbClr val="C9952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73152"/>
            <a:ext cx="8686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6. PRELIMINARY LAYOUT — Alternatives Evaluation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201168" y="914400"/>
            <a:ext cx="2834640" cy="4041648"/>
          </a:xfrm>
          <a:prstGeom prst="rect">
            <a:avLst/>
          </a:prstGeom>
          <a:solidFill>
            <a:srgbClr val="F5F0EB"/>
          </a:solidFill>
          <a:ln w="12700">
            <a:solidFill>
              <a:srgbClr val="C9A87C"/>
            </a:solidFill>
            <a:prstDash val="solid"/>
          </a:ln>
          <a:effectLst>
            <a:outerShdw blurRad="762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01168" y="914400"/>
            <a:ext cx="2834640" cy="493776"/>
          </a:xfrm>
          <a:prstGeom prst="rect">
            <a:avLst/>
          </a:prstGeom>
          <a:solidFill>
            <a:srgbClr val="6B3A2A"/>
          </a:solidFill>
          <a:ln w="12700">
            <a:solidFill>
              <a:srgbClr val="6B3A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932688"/>
            <a:ext cx="26700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Alt. A — Linear Flow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92608" y="1444752"/>
            <a:ext cx="26334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2C1A0E"/>
                </a:solidFill>
              </a:rPr>
              <a:t>All departments in a straight production line. Simplest material flow, easiest supervision.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292608" y="2139696"/>
            <a:ext cx="263347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E7D32"/>
                </a:solidFill>
              </a:rPr>
              <a:t>✔ Advantages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5760" y="2395728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1A0E"/>
                </a:solidFill>
              </a:rPr>
              <a:t>• Simple, single-direction flow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65760" y="2670048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1A0E"/>
                </a:solidFill>
              </a:rPr>
              <a:t>• Easy material tracking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65760" y="2944368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1A0E"/>
                </a:solidFill>
              </a:rPr>
              <a:t>• Low WIP accumulation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65760" y="3218688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1A0E"/>
                </a:solidFill>
              </a:rPr>
              <a:t>• Straightforward supervision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92608" y="3584448"/>
            <a:ext cx="263347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62828"/>
                </a:solidFill>
              </a:rPr>
              <a:t>✖ Disadvantages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65760" y="3858768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1A0E"/>
                </a:solidFill>
              </a:rPr>
              <a:t>• Very high building length requirement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65760" y="4133088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1A0E"/>
                </a:solidFill>
              </a:rPr>
              <a:t>• Poor space utilisation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65760" y="4407408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1A0E"/>
                </a:solidFill>
              </a:rPr>
              <a:t>• Receiving &amp; dispatch far apart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182112" y="914400"/>
            <a:ext cx="2834640" cy="4041648"/>
          </a:xfrm>
          <a:prstGeom prst="rect">
            <a:avLst/>
          </a:prstGeom>
          <a:solidFill>
            <a:srgbClr val="F5F0EB"/>
          </a:solidFill>
          <a:ln w="12700">
            <a:solidFill>
              <a:srgbClr val="C9952C"/>
            </a:solidFill>
            <a:prstDash val="solid"/>
          </a:ln>
          <a:effectLst>
            <a:outerShdw blurRad="762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182112" y="914400"/>
            <a:ext cx="2834640" cy="493776"/>
          </a:xfrm>
          <a:prstGeom prst="rect">
            <a:avLst/>
          </a:prstGeom>
          <a:solidFill>
            <a:srgbClr val="C9952C"/>
          </a:solidFill>
          <a:ln w="12700">
            <a:solidFill>
              <a:srgbClr val="C9952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55264" y="932688"/>
            <a:ext cx="26700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Alt. B — U-Shape ✓ CHOSEN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273552" y="1444752"/>
            <a:ext cx="26334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2C1A0E"/>
                </a:solidFill>
              </a:rPr>
              <a:t>U-shaped flow returns dispatch area near receiving. Best material handling efficiency and compact footprint.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273552" y="2139696"/>
            <a:ext cx="263347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E7D32"/>
                </a:solidFill>
              </a:rPr>
              <a:t>✔ Advantages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346704" y="2395728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1A0E"/>
                </a:solidFill>
              </a:rPr>
              <a:t>• Compact layout (~850 m²)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346704" y="2670048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1A0E"/>
                </a:solidFill>
              </a:rPr>
              <a:t>• Receiving &amp; dispatch adjacent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346704" y="2944368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1A0E"/>
                </a:solidFill>
              </a:rPr>
              <a:t>• Flexible multi-skilled workforce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346704" y="3218688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1A0E"/>
                </a:solidFill>
              </a:rPr>
              <a:t>• Best material handling efficiency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273552" y="3584448"/>
            <a:ext cx="263347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62828"/>
                </a:solidFill>
              </a:rPr>
              <a:t>✖ Disadvantages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346704" y="3858768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1A0E"/>
                </a:solidFill>
              </a:rPr>
              <a:t>• Slightly complex flow supervision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346704" y="4133088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1A0E"/>
                </a:solidFill>
              </a:rPr>
              <a:t>• Higher utility piping cost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163056" y="914400"/>
            <a:ext cx="2834640" cy="4041648"/>
          </a:xfrm>
          <a:prstGeom prst="rect">
            <a:avLst/>
          </a:prstGeom>
          <a:solidFill>
            <a:srgbClr val="F5F0EB"/>
          </a:solidFill>
          <a:ln w="12700">
            <a:solidFill>
              <a:srgbClr val="C9A87C"/>
            </a:solidFill>
            <a:prstDash val="solid"/>
          </a:ln>
          <a:effectLst>
            <a:outerShdw blurRad="762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63056" y="914400"/>
            <a:ext cx="2834640" cy="493776"/>
          </a:xfrm>
          <a:prstGeom prst="rect">
            <a:avLst/>
          </a:prstGeom>
          <a:solidFill>
            <a:srgbClr val="6B3A2A"/>
          </a:solidFill>
          <a:ln w="12700">
            <a:solidFill>
              <a:srgbClr val="6B3A2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36208" y="932688"/>
            <a:ext cx="26700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Alt. C — L-Shape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254496" y="1444752"/>
            <a:ext cx="26334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2C1A0E"/>
                </a:solidFill>
              </a:rPr>
              <a:t>L-shaped flow splits packaging wing from production. Reduces congestion at packaging end.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254496" y="2139696"/>
            <a:ext cx="263347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E7D32"/>
                </a:solidFill>
              </a:rPr>
              <a:t>✔ Advantages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327648" y="2395728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1A0E"/>
                </a:solidFill>
              </a:rPr>
              <a:t>• Good future expansion space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327648" y="2670048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1A0E"/>
                </a:solidFill>
              </a:rPr>
              <a:t>• Packaging segregated from production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6254496" y="3035808"/>
            <a:ext cx="263347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62828"/>
                </a:solidFill>
              </a:rPr>
              <a:t>✖ Disadvantages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327648" y="3310128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1A0E"/>
                </a:solidFill>
              </a:rPr>
              <a:t>• Longer average material travel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6327648" y="3584448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1A0E"/>
                </a:solidFill>
              </a:rPr>
              <a:t>• Requires two supervision zones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6327648" y="3858768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1A0E"/>
                </a:solidFill>
              </a:rPr>
              <a:t>• Higher inter-department distances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DF3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3B1A08"/>
          </a:solidFill>
          <a:ln w="12700">
            <a:solidFill>
              <a:srgbClr val="3B1A0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C9952C"/>
          </a:solidFill>
          <a:ln w="12700">
            <a:solidFill>
              <a:srgbClr val="C9952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73152"/>
            <a:ext cx="8686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7. FABRICATION DEPARTMENT — Preliminary Layout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201168" y="841248"/>
            <a:ext cx="8732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3A2A"/>
                </a:solidFill>
              </a:rPr>
              <a:t>Preliminary zone allocations before detailed SLP. All dimensions in metres.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01168" y="1115568"/>
            <a:ext cx="1554480" cy="1645920"/>
          </a:xfrm>
          <a:prstGeom prst="rect">
            <a:avLst/>
          </a:prstGeom>
          <a:solidFill>
            <a:srgbClr val="5C3317">
              <a:alpha val="9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46888" y="1152144"/>
            <a:ext cx="1463040" cy="1444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RAW MATERIAL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STORE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46888" y="256032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E0B0"/>
                </a:solidFill>
              </a:rPr>
              <a:t>24 m²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1828800" y="1115568"/>
            <a:ext cx="1417320" cy="1188720"/>
          </a:xfrm>
          <a:prstGeom prst="rect">
            <a:avLst/>
          </a:prstGeom>
          <a:solidFill>
            <a:srgbClr val="6B3A2A">
              <a:alpha val="9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74520" y="1152144"/>
            <a:ext cx="132588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MIXING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&amp; BLENDING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874520" y="2103120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E0B0"/>
                </a:solidFill>
              </a:rPr>
              <a:t>20 m²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3310128" y="1115568"/>
            <a:ext cx="1554480" cy="1188720"/>
          </a:xfrm>
          <a:prstGeom prst="rect">
            <a:avLst/>
          </a:prstGeom>
          <a:solidFill>
            <a:srgbClr val="7B4A2A">
              <a:alpha val="9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55848" y="1152144"/>
            <a:ext cx="146304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CONCHING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355848" y="210312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E0B0"/>
                </a:solidFill>
              </a:rPr>
              <a:t>24 m²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4919472" y="1115568"/>
            <a:ext cx="1417320" cy="1188720"/>
          </a:xfrm>
          <a:prstGeom prst="rect">
            <a:avLst/>
          </a:prstGeom>
          <a:solidFill>
            <a:srgbClr val="8B5A3A">
              <a:alpha val="9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65192" y="1152144"/>
            <a:ext cx="132588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TEMPERING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965192" y="2103120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E0B0"/>
                </a:solidFill>
              </a:rPr>
              <a:t>18 m²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6400800" y="1115568"/>
            <a:ext cx="2514600" cy="1188720"/>
          </a:xfrm>
          <a:prstGeom prst="rect">
            <a:avLst/>
          </a:prstGeom>
          <a:solidFill>
            <a:srgbClr val="9B6A4A">
              <a:alpha val="9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1152144"/>
            <a:ext cx="242316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MOULDING &amp;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ENROBING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446520" y="2103120"/>
            <a:ext cx="2423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E0B0"/>
                </a:solidFill>
              </a:rPr>
              <a:t>30 m²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6400800" y="2359152"/>
            <a:ext cx="2514600" cy="1371600"/>
          </a:xfrm>
          <a:prstGeom prst="rect">
            <a:avLst/>
          </a:prstGeom>
          <a:solidFill>
            <a:srgbClr val="AB7A5A">
              <a:alpha val="9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46520" y="2395728"/>
            <a:ext cx="242316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COOLING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TUNNEL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446520" y="3529584"/>
            <a:ext cx="2423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E0B0"/>
                </a:solidFill>
              </a:rPr>
              <a:t>24 m²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4114800" y="2359152"/>
            <a:ext cx="2194560" cy="1371600"/>
          </a:xfrm>
          <a:prstGeom prst="rect">
            <a:avLst/>
          </a:prstGeom>
          <a:solidFill>
            <a:srgbClr val="8B5A3A">
              <a:alpha val="9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60520" y="2395728"/>
            <a:ext cx="210312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PACKAGING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LINE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160520" y="3529584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E0B0"/>
                </a:solidFill>
              </a:rPr>
              <a:t>24 m²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1828800" y="2359152"/>
            <a:ext cx="2194560" cy="1371600"/>
          </a:xfrm>
          <a:prstGeom prst="rect">
            <a:avLst/>
          </a:prstGeom>
          <a:solidFill>
            <a:srgbClr val="7B4A2A">
              <a:alpha val="9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874520" y="2395728"/>
            <a:ext cx="210312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QC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LABORATORY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874520" y="3529584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E0B0"/>
                </a:solidFill>
              </a:rPr>
              <a:t>24 m²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201168" y="2834640"/>
            <a:ext cx="1554480" cy="868680"/>
          </a:xfrm>
          <a:prstGeom prst="rect">
            <a:avLst/>
          </a:prstGeom>
          <a:solidFill>
            <a:srgbClr val="6B3A2A">
              <a:alpha val="9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46888" y="2871216"/>
            <a:ext cx="146304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UTILITIES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&amp; SERVICES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246888" y="3502152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E0B0"/>
                </a:solidFill>
              </a:rPr>
              <a:t>16 m²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201168" y="3767328"/>
            <a:ext cx="4206240" cy="1188720"/>
          </a:xfrm>
          <a:prstGeom prst="rect">
            <a:avLst/>
          </a:prstGeom>
          <a:solidFill>
            <a:srgbClr val="5C3317">
              <a:alpha val="9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46888" y="3803904"/>
            <a:ext cx="411480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FINISHED GOODS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WAREHOUSE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246888" y="4754880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E0B0"/>
                </a:solidFill>
              </a:rPr>
              <a:t>96 m²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4480560" y="3767328"/>
            <a:ext cx="4434840" cy="1188720"/>
          </a:xfrm>
          <a:prstGeom prst="rect">
            <a:avLst/>
          </a:prstGeom>
          <a:solidFill>
            <a:srgbClr val="C9952C">
              <a:alpha val="9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26280" y="3803904"/>
            <a:ext cx="434340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DISPATCH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BAY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526280" y="4754880"/>
            <a:ext cx="4343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E0B0"/>
                </a:solidFill>
              </a:rPr>
              <a:t>—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1847088" y="1664208"/>
            <a:ext cx="1380744" cy="0"/>
          </a:xfrm>
          <a:prstGeom prst="line">
            <a:avLst/>
          </a:prstGeom>
          <a:noFill/>
          <a:ln w="12700">
            <a:solidFill>
              <a:srgbClr val="C9952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328416" y="1664208"/>
            <a:ext cx="1499616" cy="0"/>
          </a:xfrm>
          <a:prstGeom prst="line">
            <a:avLst/>
          </a:prstGeom>
          <a:noFill/>
          <a:ln w="12700">
            <a:solidFill>
              <a:srgbClr val="C9952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937760" y="1664208"/>
            <a:ext cx="1371600" cy="0"/>
          </a:xfrm>
          <a:prstGeom prst="line">
            <a:avLst/>
          </a:prstGeom>
          <a:noFill/>
          <a:ln w="12700">
            <a:solidFill>
              <a:srgbClr val="C9952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419088" y="1664208"/>
            <a:ext cx="2414016" cy="0"/>
          </a:xfrm>
          <a:prstGeom prst="line">
            <a:avLst/>
          </a:prstGeom>
          <a:noFill/>
          <a:ln w="12700">
            <a:solidFill>
              <a:srgbClr val="C9952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01168" y="4892040"/>
            <a:ext cx="8732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B1A08"/>
                </a:solidFill>
              </a:rPr>
              <a:t>Total Fabrication Dept Area: ≈ 300 m²  |  Building footprint: 30 m × 10 m (preliminary)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6B3A2A"/>
          </a:solidFill>
          <a:ln w="12700">
            <a:solidFill>
              <a:srgbClr val="6B3A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C9952C"/>
          </a:solidFill>
          <a:ln w="12700">
            <a:solidFill>
              <a:srgbClr val="C9952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73152"/>
            <a:ext cx="8686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8. ACTIVITY RELATIONSHIP CHART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6693408" y="960120"/>
            <a:ext cx="274320" cy="27432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93408" y="9601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004304" y="960120"/>
            <a:ext cx="2029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1A0E"/>
                </a:solidFill>
              </a:rPr>
              <a:t> = Absolutely Necessary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693408" y="1298448"/>
            <a:ext cx="274320" cy="27432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93408" y="129844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004304" y="1298448"/>
            <a:ext cx="2029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1A0E"/>
                </a:solidFill>
              </a:rPr>
              <a:t> = Especially Important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693408" y="1636776"/>
            <a:ext cx="274320" cy="2743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93408" y="163677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I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004304" y="1636776"/>
            <a:ext cx="2029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1A0E"/>
                </a:solidFill>
              </a:rPr>
              <a:t> = Important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693408" y="1975104"/>
            <a:ext cx="274320" cy="2743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93408" y="197510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O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004304" y="1975104"/>
            <a:ext cx="2029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1A0E"/>
                </a:solidFill>
              </a:rPr>
              <a:t> = Ordinary Closeness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693408" y="2313432"/>
            <a:ext cx="274320" cy="274320"/>
          </a:xfrm>
          <a:prstGeom prst="rect">
            <a:avLst/>
          </a:prstGeom>
          <a:solidFill>
            <a:srgbClr val="9E9E9E"/>
          </a:solidFill>
          <a:ln w="12700">
            <a:solidFill>
              <a:srgbClr val="9E9E9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93408" y="231343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U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004304" y="2313432"/>
            <a:ext cx="2029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1A0E"/>
                </a:solidFill>
              </a:rPr>
              <a:t> = Unimportant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693408" y="2651760"/>
            <a:ext cx="274320" cy="274320"/>
          </a:xfrm>
          <a:prstGeom prst="rect">
            <a:avLst/>
          </a:prstGeom>
          <a:solidFill>
            <a:srgbClr val="212121"/>
          </a:solidFill>
          <a:ln w="12700">
            <a:solidFill>
              <a:srgbClr val="21212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93408" y="26517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X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004304" y="2651760"/>
            <a:ext cx="2029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1A0E"/>
                </a:solidFill>
              </a:rPr>
              <a:t> = Undesirable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057400" y="841248"/>
            <a:ext cx="5120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3B1A08"/>
                </a:solidFill>
              </a:rPr>
              <a:t>Receiving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2569464" y="841248"/>
            <a:ext cx="5120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3B1A08"/>
                </a:solidFill>
              </a:rPr>
              <a:t>Mixing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3081528" y="841248"/>
            <a:ext cx="5120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3B1A08"/>
                </a:solidFill>
              </a:rPr>
              <a:t>Conching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593592" y="841248"/>
            <a:ext cx="5120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3B1A08"/>
                </a:solidFill>
              </a:rPr>
              <a:t>Tempering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4105656" y="841248"/>
            <a:ext cx="5120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3B1A08"/>
                </a:solidFill>
              </a:rPr>
              <a:t>Moulding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4617720" y="841248"/>
            <a:ext cx="5120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3B1A08"/>
                </a:solidFill>
              </a:rPr>
              <a:t>Cooling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5129784" y="841248"/>
            <a:ext cx="5120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3B1A08"/>
                </a:solidFill>
              </a:rPr>
              <a:t>Packaging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5641848" y="841248"/>
            <a:ext cx="5120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3B1A08"/>
                </a:solidFill>
              </a:rPr>
              <a:t>Dispatch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164592" y="914400"/>
            <a:ext cx="181051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2C1A0E"/>
                </a:solidFill>
              </a:rPr>
              <a:t>Receiving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2057400" y="914400"/>
            <a:ext cx="512064" cy="512064"/>
          </a:xfrm>
          <a:prstGeom prst="rect">
            <a:avLst/>
          </a:prstGeom>
          <a:solidFill>
            <a:srgbClr val="C9A87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057400" y="91440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—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569464" y="914400"/>
            <a:ext cx="512064" cy="512064"/>
          </a:xfrm>
          <a:prstGeom prst="rect">
            <a:avLst/>
          </a:prstGeom>
          <a:solidFill>
            <a:srgbClr val="C6282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569464" y="91440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081528" y="914400"/>
            <a:ext cx="512064" cy="512064"/>
          </a:xfrm>
          <a:prstGeom prst="rect">
            <a:avLst/>
          </a:prstGeom>
          <a:solidFill>
            <a:srgbClr val="9E9E9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081528" y="91440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U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593592" y="914400"/>
            <a:ext cx="512064" cy="512064"/>
          </a:xfrm>
          <a:prstGeom prst="rect">
            <a:avLst/>
          </a:prstGeom>
          <a:solidFill>
            <a:srgbClr val="9E9E9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593592" y="91440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U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105656" y="914400"/>
            <a:ext cx="512064" cy="512064"/>
          </a:xfrm>
          <a:prstGeom prst="rect">
            <a:avLst/>
          </a:prstGeom>
          <a:solidFill>
            <a:srgbClr val="9E9E9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105656" y="91440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U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617720" y="914400"/>
            <a:ext cx="512064" cy="512064"/>
          </a:xfrm>
          <a:prstGeom prst="rect">
            <a:avLst/>
          </a:prstGeom>
          <a:solidFill>
            <a:srgbClr val="9E9E9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617720" y="91440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U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129784" y="914400"/>
            <a:ext cx="512064" cy="512064"/>
          </a:xfrm>
          <a:prstGeom prst="rect">
            <a:avLst/>
          </a:prstGeom>
          <a:solidFill>
            <a:srgbClr val="9E9E9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129784" y="91440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U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5641848" y="914400"/>
            <a:ext cx="512064" cy="512064"/>
          </a:xfrm>
          <a:prstGeom prst="rect">
            <a:avLst/>
          </a:prstGeom>
          <a:solidFill>
            <a:srgbClr val="E651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641848" y="91440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E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64592" y="1426464"/>
            <a:ext cx="181051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2C1A0E"/>
                </a:solidFill>
              </a:rPr>
              <a:t>Mixing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2057400" y="1426464"/>
            <a:ext cx="512064" cy="512064"/>
          </a:xfrm>
          <a:prstGeom prst="rect">
            <a:avLst/>
          </a:prstGeom>
          <a:solidFill>
            <a:srgbClr val="EDE5D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569464" y="1426464"/>
            <a:ext cx="512064" cy="512064"/>
          </a:xfrm>
          <a:prstGeom prst="rect">
            <a:avLst/>
          </a:prstGeom>
          <a:solidFill>
            <a:srgbClr val="C9A87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569464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—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3081528" y="1426464"/>
            <a:ext cx="512064" cy="512064"/>
          </a:xfrm>
          <a:prstGeom prst="rect">
            <a:avLst/>
          </a:prstGeom>
          <a:solidFill>
            <a:srgbClr val="C6282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08152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593592" y="1426464"/>
            <a:ext cx="512064" cy="512064"/>
          </a:xfrm>
          <a:prstGeom prst="rect">
            <a:avLst/>
          </a:prstGeom>
          <a:solidFill>
            <a:srgbClr val="9E9E9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593592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U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105656" y="1426464"/>
            <a:ext cx="512064" cy="512064"/>
          </a:xfrm>
          <a:prstGeom prst="rect">
            <a:avLst/>
          </a:prstGeom>
          <a:solidFill>
            <a:srgbClr val="9E9E9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105656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U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4617720" y="1426464"/>
            <a:ext cx="512064" cy="512064"/>
          </a:xfrm>
          <a:prstGeom prst="rect">
            <a:avLst/>
          </a:prstGeom>
          <a:solidFill>
            <a:srgbClr val="9E9E9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617720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U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5129784" y="1426464"/>
            <a:ext cx="512064" cy="512064"/>
          </a:xfrm>
          <a:prstGeom prst="rect">
            <a:avLst/>
          </a:prstGeom>
          <a:solidFill>
            <a:srgbClr val="9E9E9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129784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U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5641848" y="1426464"/>
            <a:ext cx="512064" cy="512064"/>
          </a:xfrm>
          <a:prstGeom prst="rect">
            <a:avLst/>
          </a:prstGeom>
          <a:solidFill>
            <a:srgbClr val="9E9E9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64184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U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164592" y="1938528"/>
            <a:ext cx="181051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2C1A0E"/>
                </a:solidFill>
              </a:rPr>
              <a:t>Conching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2057400" y="1938528"/>
            <a:ext cx="512064" cy="512064"/>
          </a:xfrm>
          <a:prstGeom prst="rect">
            <a:avLst/>
          </a:prstGeom>
          <a:solidFill>
            <a:srgbClr val="EDE5D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569464" y="1938528"/>
            <a:ext cx="512064" cy="512064"/>
          </a:xfrm>
          <a:prstGeom prst="rect">
            <a:avLst/>
          </a:prstGeom>
          <a:solidFill>
            <a:srgbClr val="EDE5D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3081528" y="1938528"/>
            <a:ext cx="512064" cy="512064"/>
          </a:xfrm>
          <a:prstGeom prst="rect">
            <a:avLst/>
          </a:prstGeom>
          <a:solidFill>
            <a:srgbClr val="C9A87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081528" y="193852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—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3593592" y="1938528"/>
            <a:ext cx="512064" cy="512064"/>
          </a:xfrm>
          <a:prstGeom prst="rect">
            <a:avLst/>
          </a:prstGeom>
          <a:solidFill>
            <a:srgbClr val="C6282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593592" y="193852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4105656" y="1938528"/>
            <a:ext cx="512064" cy="512064"/>
          </a:xfrm>
          <a:prstGeom prst="rect">
            <a:avLst/>
          </a:prstGeom>
          <a:solidFill>
            <a:srgbClr val="9E9E9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105656" y="193852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U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4617720" y="1938528"/>
            <a:ext cx="512064" cy="512064"/>
          </a:xfrm>
          <a:prstGeom prst="rect">
            <a:avLst/>
          </a:prstGeom>
          <a:solidFill>
            <a:srgbClr val="9E9E9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617720" y="193852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U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5129784" y="1938528"/>
            <a:ext cx="512064" cy="512064"/>
          </a:xfrm>
          <a:prstGeom prst="rect">
            <a:avLst/>
          </a:prstGeom>
          <a:solidFill>
            <a:srgbClr val="9E9E9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129784" y="193852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U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5641848" y="1938528"/>
            <a:ext cx="512064" cy="512064"/>
          </a:xfrm>
          <a:prstGeom prst="rect">
            <a:avLst/>
          </a:prstGeom>
          <a:solidFill>
            <a:srgbClr val="9E9E9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5641848" y="193852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U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164592" y="2450592"/>
            <a:ext cx="181051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2C1A0E"/>
                </a:solidFill>
              </a:rPr>
              <a:t>Tempering</a:t>
            </a:r>
            <a:endParaRPr lang="en-US" sz="800" dirty="0"/>
          </a:p>
        </p:txBody>
      </p:sp>
      <p:sp>
        <p:nvSpPr>
          <p:cNvPr id="80" name="Shape 78"/>
          <p:cNvSpPr/>
          <p:nvPr/>
        </p:nvSpPr>
        <p:spPr>
          <a:xfrm>
            <a:off x="2057400" y="2450592"/>
            <a:ext cx="512064" cy="512064"/>
          </a:xfrm>
          <a:prstGeom prst="rect">
            <a:avLst/>
          </a:prstGeom>
          <a:solidFill>
            <a:srgbClr val="EDE5D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2569464" y="2450592"/>
            <a:ext cx="512064" cy="512064"/>
          </a:xfrm>
          <a:prstGeom prst="rect">
            <a:avLst/>
          </a:prstGeom>
          <a:solidFill>
            <a:srgbClr val="EDE5D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3081528" y="2450592"/>
            <a:ext cx="512064" cy="512064"/>
          </a:xfrm>
          <a:prstGeom prst="rect">
            <a:avLst/>
          </a:prstGeom>
          <a:solidFill>
            <a:srgbClr val="EDE5D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3593592" y="2450592"/>
            <a:ext cx="512064" cy="512064"/>
          </a:xfrm>
          <a:prstGeom prst="rect">
            <a:avLst/>
          </a:prstGeom>
          <a:solidFill>
            <a:srgbClr val="C9A87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3593592" y="245059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—</a:t>
            </a:r>
            <a:endParaRPr lang="en-US" sz="900" dirty="0"/>
          </a:p>
        </p:txBody>
      </p:sp>
      <p:sp>
        <p:nvSpPr>
          <p:cNvPr id="85" name="Shape 83"/>
          <p:cNvSpPr/>
          <p:nvPr/>
        </p:nvSpPr>
        <p:spPr>
          <a:xfrm>
            <a:off x="4105656" y="2450592"/>
            <a:ext cx="512064" cy="512064"/>
          </a:xfrm>
          <a:prstGeom prst="rect">
            <a:avLst/>
          </a:prstGeom>
          <a:solidFill>
            <a:srgbClr val="C6282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4105656" y="245059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4617720" y="2450592"/>
            <a:ext cx="512064" cy="512064"/>
          </a:xfrm>
          <a:prstGeom prst="rect">
            <a:avLst/>
          </a:prstGeom>
          <a:solidFill>
            <a:srgbClr val="E651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4617720" y="245059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E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5129784" y="2450592"/>
            <a:ext cx="512064" cy="512064"/>
          </a:xfrm>
          <a:prstGeom prst="rect">
            <a:avLst/>
          </a:prstGeom>
          <a:solidFill>
            <a:srgbClr val="9E9E9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5129784" y="245059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U</a:t>
            </a:r>
            <a:endParaRPr lang="en-US" sz="900" dirty="0"/>
          </a:p>
        </p:txBody>
      </p:sp>
      <p:sp>
        <p:nvSpPr>
          <p:cNvPr id="91" name="Shape 89"/>
          <p:cNvSpPr/>
          <p:nvPr/>
        </p:nvSpPr>
        <p:spPr>
          <a:xfrm>
            <a:off x="5641848" y="2450592"/>
            <a:ext cx="512064" cy="512064"/>
          </a:xfrm>
          <a:prstGeom prst="rect">
            <a:avLst/>
          </a:prstGeom>
          <a:solidFill>
            <a:srgbClr val="9E9E9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5641848" y="245059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U</a:t>
            </a:r>
            <a:endParaRPr lang="en-US" sz="900" dirty="0"/>
          </a:p>
        </p:txBody>
      </p:sp>
      <p:sp>
        <p:nvSpPr>
          <p:cNvPr id="93" name="Text 91"/>
          <p:cNvSpPr/>
          <p:nvPr/>
        </p:nvSpPr>
        <p:spPr>
          <a:xfrm>
            <a:off x="164592" y="2962656"/>
            <a:ext cx="181051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2C1A0E"/>
                </a:solidFill>
              </a:rPr>
              <a:t>Moulding</a:t>
            </a:r>
            <a:endParaRPr lang="en-US" sz="800" dirty="0"/>
          </a:p>
        </p:txBody>
      </p:sp>
      <p:sp>
        <p:nvSpPr>
          <p:cNvPr id="94" name="Shape 92"/>
          <p:cNvSpPr/>
          <p:nvPr/>
        </p:nvSpPr>
        <p:spPr>
          <a:xfrm>
            <a:off x="2057400" y="2962656"/>
            <a:ext cx="512064" cy="512064"/>
          </a:xfrm>
          <a:prstGeom prst="rect">
            <a:avLst/>
          </a:prstGeom>
          <a:solidFill>
            <a:srgbClr val="EDE5D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2569464" y="2962656"/>
            <a:ext cx="512064" cy="512064"/>
          </a:xfrm>
          <a:prstGeom prst="rect">
            <a:avLst/>
          </a:prstGeom>
          <a:solidFill>
            <a:srgbClr val="EDE5D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3081528" y="2962656"/>
            <a:ext cx="512064" cy="512064"/>
          </a:xfrm>
          <a:prstGeom prst="rect">
            <a:avLst/>
          </a:prstGeom>
          <a:solidFill>
            <a:srgbClr val="EDE5D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3593592" y="2962656"/>
            <a:ext cx="512064" cy="512064"/>
          </a:xfrm>
          <a:prstGeom prst="rect">
            <a:avLst/>
          </a:prstGeom>
          <a:solidFill>
            <a:srgbClr val="EDE5D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4105656" y="2962656"/>
            <a:ext cx="512064" cy="512064"/>
          </a:xfrm>
          <a:prstGeom prst="rect">
            <a:avLst/>
          </a:prstGeom>
          <a:solidFill>
            <a:srgbClr val="C9A87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4105656" y="2962656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—</a:t>
            </a:r>
            <a:endParaRPr lang="en-US" sz="900" dirty="0"/>
          </a:p>
        </p:txBody>
      </p:sp>
      <p:sp>
        <p:nvSpPr>
          <p:cNvPr id="100" name="Shape 98"/>
          <p:cNvSpPr/>
          <p:nvPr/>
        </p:nvSpPr>
        <p:spPr>
          <a:xfrm>
            <a:off x="4617720" y="2962656"/>
            <a:ext cx="512064" cy="512064"/>
          </a:xfrm>
          <a:prstGeom prst="rect">
            <a:avLst/>
          </a:prstGeom>
          <a:solidFill>
            <a:srgbClr val="C6282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4617720" y="2962656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</a:t>
            </a:r>
            <a:endParaRPr lang="en-US" sz="900" dirty="0"/>
          </a:p>
        </p:txBody>
      </p:sp>
      <p:sp>
        <p:nvSpPr>
          <p:cNvPr id="102" name="Shape 100"/>
          <p:cNvSpPr/>
          <p:nvPr/>
        </p:nvSpPr>
        <p:spPr>
          <a:xfrm>
            <a:off x="5129784" y="2962656"/>
            <a:ext cx="512064" cy="512064"/>
          </a:xfrm>
          <a:prstGeom prst="rect">
            <a:avLst/>
          </a:prstGeom>
          <a:solidFill>
            <a:srgbClr val="9E9E9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5129784" y="2962656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U</a:t>
            </a:r>
            <a:endParaRPr lang="en-US" sz="900" dirty="0"/>
          </a:p>
        </p:txBody>
      </p:sp>
      <p:sp>
        <p:nvSpPr>
          <p:cNvPr id="104" name="Shape 102"/>
          <p:cNvSpPr/>
          <p:nvPr/>
        </p:nvSpPr>
        <p:spPr>
          <a:xfrm>
            <a:off x="5641848" y="2962656"/>
            <a:ext cx="512064" cy="512064"/>
          </a:xfrm>
          <a:prstGeom prst="rect">
            <a:avLst/>
          </a:prstGeom>
          <a:solidFill>
            <a:srgbClr val="9E9E9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5641848" y="2962656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U</a:t>
            </a:r>
            <a:endParaRPr lang="en-US" sz="900" dirty="0"/>
          </a:p>
        </p:txBody>
      </p:sp>
      <p:sp>
        <p:nvSpPr>
          <p:cNvPr id="106" name="Text 104"/>
          <p:cNvSpPr/>
          <p:nvPr/>
        </p:nvSpPr>
        <p:spPr>
          <a:xfrm>
            <a:off x="164592" y="3474720"/>
            <a:ext cx="181051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2C1A0E"/>
                </a:solidFill>
              </a:rPr>
              <a:t>Cooling</a:t>
            </a:r>
            <a:endParaRPr lang="en-US" sz="800" dirty="0"/>
          </a:p>
        </p:txBody>
      </p:sp>
      <p:sp>
        <p:nvSpPr>
          <p:cNvPr id="107" name="Shape 105"/>
          <p:cNvSpPr/>
          <p:nvPr/>
        </p:nvSpPr>
        <p:spPr>
          <a:xfrm>
            <a:off x="2057400" y="3474720"/>
            <a:ext cx="512064" cy="512064"/>
          </a:xfrm>
          <a:prstGeom prst="rect">
            <a:avLst/>
          </a:prstGeom>
          <a:solidFill>
            <a:srgbClr val="EDE5D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2569464" y="3474720"/>
            <a:ext cx="512064" cy="512064"/>
          </a:xfrm>
          <a:prstGeom prst="rect">
            <a:avLst/>
          </a:prstGeom>
          <a:solidFill>
            <a:srgbClr val="EDE5D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3081528" y="3474720"/>
            <a:ext cx="512064" cy="512064"/>
          </a:xfrm>
          <a:prstGeom prst="rect">
            <a:avLst/>
          </a:prstGeom>
          <a:solidFill>
            <a:srgbClr val="EDE5D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3593592" y="3474720"/>
            <a:ext cx="512064" cy="512064"/>
          </a:xfrm>
          <a:prstGeom prst="rect">
            <a:avLst/>
          </a:prstGeom>
          <a:solidFill>
            <a:srgbClr val="EDE5D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4105656" y="3474720"/>
            <a:ext cx="512064" cy="512064"/>
          </a:xfrm>
          <a:prstGeom prst="rect">
            <a:avLst/>
          </a:prstGeom>
          <a:solidFill>
            <a:srgbClr val="EDE5D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4617720" y="3474720"/>
            <a:ext cx="512064" cy="512064"/>
          </a:xfrm>
          <a:prstGeom prst="rect">
            <a:avLst/>
          </a:prstGeom>
          <a:solidFill>
            <a:srgbClr val="C9A87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4617720" y="347472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—</a:t>
            </a:r>
            <a:endParaRPr lang="en-US" sz="900" dirty="0"/>
          </a:p>
        </p:txBody>
      </p:sp>
      <p:sp>
        <p:nvSpPr>
          <p:cNvPr id="114" name="Shape 112"/>
          <p:cNvSpPr/>
          <p:nvPr/>
        </p:nvSpPr>
        <p:spPr>
          <a:xfrm>
            <a:off x="5129784" y="3474720"/>
            <a:ext cx="512064" cy="512064"/>
          </a:xfrm>
          <a:prstGeom prst="rect">
            <a:avLst/>
          </a:prstGeom>
          <a:solidFill>
            <a:srgbClr val="C6282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5129784" y="347472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</a:t>
            </a:r>
            <a:endParaRPr lang="en-US" sz="900" dirty="0"/>
          </a:p>
        </p:txBody>
      </p:sp>
      <p:sp>
        <p:nvSpPr>
          <p:cNvPr id="116" name="Shape 114"/>
          <p:cNvSpPr/>
          <p:nvPr/>
        </p:nvSpPr>
        <p:spPr>
          <a:xfrm>
            <a:off x="5641848" y="3474720"/>
            <a:ext cx="512064" cy="512064"/>
          </a:xfrm>
          <a:prstGeom prst="rect">
            <a:avLst/>
          </a:prstGeom>
          <a:solidFill>
            <a:srgbClr val="9E9E9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5641848" y="347472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U</a:t>
            </a:r>
            <a:endParaRPr lang="en-US" sz="900" dirty="0"/>
          </a:p>
        </p:txBody>
      </p:sp>
      <p:sp>
        <p:nvSpPr>
          <p:cNvPr id="118" name="Text 116"/>
          <p:cNvSpPr/>
          <p:nvPr/>
        </p:nvSpPr>
        <p:spPr>
          <a:xfrm>
            <a:off x="164592" y="3986784"/>
            <a:ext cx="181051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2C1A0E"/>
                </a:solidFill>
              </a:rPr>
              <a:t>Packaging</a:t>
            </a:r>
            <a:endParaRPr lang="en-US" sz="800" dirty="0"/>
          </a:p>
        </p:txBody>
      </p:sp>
      <p:sp>
        <p:nvSpPr>
          <p:cNvPr id="119" name="Shape 117"/>
          <p:cNvSpPr/>
          <p:nvPr/>
        </p:nvSpPr>
        <p:spPr>
          <a:xfrm>
            <a:off x="2057400" y="3986784"/>
            <a:ext cx="512064" cy="512064"/>
          </a:xfrm>
          <a:prstGeom prst="rect">
            <a:avLst/>
          </a:prstGeom>
          <a:solidFill>
            <a:srgbClr val="EDE5D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2569464" y="3986784"/>
            <a:ext cx="512064" cy="512064"/>
          </a:xfrm>
          <a:prstGeom prst="rect">
            <a:avLst/>
          </a:prstGeom>
          <a:solidFill>
            <a:srgbClr val="EDE5D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3081528" y="3986784"/>
            <a:ext cx="512064" cy="512064"/>
          </a:xfrm>
          <a:prstGeom prst="rect">
            <a:avLst/>
          </a:prstGeom>
          <a:solidFill>
            <a:srgbClr val="EDE5D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3593592" y="3986784"/>
            <a:ext cx="512064" cy="512064"/>
          </a:xfrm>
          <a:prstGeom prst="rect">
            <a:avLst/>
          </a:prstGeom>
          <a:solidFill>
            <a:srgbClr val="EDE5D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4105656" y="3986784"/>
            <a:ext cx="512064" cy="512064"/>
          </a:xfrm>
          <a:prstGeom prst="rect">
            <a:avLst/>
          </a:prstGeom>
          <a:solidFill>
            <a:srgbClr val="EDE5D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4617720" y="3986784"/>
            <a:ext cx="512064" cy="512064"/>
          </a:xfrm>
          <a:prstGeom prst="rect">
            <a:avLst/>
          </a:prstGeom>
          <a:solidFill>
            <a:srgbClr val="EDE5D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5129784" y="3986784"/>
            <a:ext cx="512064" cy="512064"/>
          </a:xfrm>
          <a:prstGeom prst="rect">
            <a:avLst/>
          </a:prstGeom>
          <a:solidFill>
            <a:srgbClr val="C9A87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5129784" y="398678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—</a:t>
            </a:r>
            <a:endParaRPr lang="en-US" sz="900" dirty="0"/>
          </a:p>
        </p:txBody>
      </p:sp>
      <p:sp>
        <p:nvSpPr>
          <p:cNvPr id="127" name="Shape 125"/>
          <p:cNvSpPr/>
          <p:nvPr/>
        </p:nvSpPr>
        <p:spPr>
          <a:xfrm>
            <a:off x="5641848" y="3986784"/>
            <a:ext cx="512064" cy="512064"/>
          </a:xfrm>
          <a:prstGeom prst="rect">
            <a:avLst/>
          </a:prstGeom>
          <a:solidFill>
            <a:srgbClr val="C6282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5641848" y="398678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</a:t>
            </a:r>
            <a:endParaRPr lang="en-US" sz="900" dirty="0"/>
          </a:p>
        </p:txBody>
      </p:sp>
      <p:sp>
        <p:nvSpPr>
          <p:cNvPr id="129" name="Text 127"/>
          <p:cNvSpPr/>
          <p:nvPr/>
        </p:nvSpPr>
        <p:spPr>
          <a:xfrm>
            <a:off x="164592" y="4498848"/>
            <a:ext cx="181051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2C1A0E"/>
                </a:solidFill>
              </a:rPr>
              <a:t>Dispatch</a:t>
            </a:r>
            <a:endParaRPr lang="en-US" sz="800" dirty="0"/>
          </a:p>
        </p:txBody>
      </p:sp>
      <p:sp>
        <p:nvSpPr>
          <p:cNvPr id="130" name="Shape 128"/>
          <p:cNvSpPr/>
          <p:nvPr/>
        </p:nvSpPr>
        <p:spPr>
          <a:xfrm>
            <a:off x="2057400" y="4498848"/>
            <a:ext cx="512064" cy="512064"/>
          </a:xfrm>
          <a:prstGeom prst="rect">
            <a:avLst/>
          </a:prstGeom>
          <a:solidFill>
            <a:srgbClr val="EDE5D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2569464" y="4498848"/>
            <a:ext cx="512064" cy="512064"/>
          </a:xfrm>
          <a:prstGeom prst="rect">
            <a:avLst/>
          </a:prstGeom>
          <a:solidFill>
            <a:srgbClr val="EDE5D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3081528" y="4498848"/>
            <a:ext cx="512064" cy="512064"/>
          </a:xfrm>
          <a:prstGeom prst="rect">
            <a:avLst/>
          </a:prstGeom>
          <a:solidFill>
            <a:srgbClr val="EDE5D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3593592" y="4498848"/>
            <a:ext cx="512064" cy="512064"/>
          </a:xfrm>
          <a:prstGeom prst="rect">
            <a:avLst/>
          </a:prstGeom>
          <a:solidFill>
            <a:srgbClr val="EDE5D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4105656" y="4498848"/>
            <a:ext cx="512064" cy="512064"/>
          </a:xfrm>
          <a:prstGeom prst="rect">
            <a:avLst/>
          </a:prstGeom>
          <a:solidFill>
            <a:srgbClr val="EDE5D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4617720" y="4498848"/>
            <a:ext cx="512064" cy="512064"/>
          </a:xfrm>
          <a:prstGeom prst="rect">
            <a:avLst/>
          </a:prstGeom>
          <a:solidFill>
            <a:srgbClr val="EDE5D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5129784" y="4498848"/>
            <a:ext cx="512064" cy="512064"/>
          </a:xfrm>
          <a:prstGeom prst="rect">
            <a:avLst/>
          </a:prstGeom>
          <a:solidFill>
            <a:srgbClr val="EDE5D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5641848" y="4498848"/>
            <a:ext cx="512064" cy="512064"/>
          </a:xfrm>
          <a:prstGeom prst="rect">
            <a:avLst/>
          </a:prstGeom>
          <a:solidFill>
            <a:srgbClr val="C9A87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5641848" y="449884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—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DF3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3B1A08"/>
          </a:solidFill>
          <a:ln w="12700">
            <a:solidFill>
              <a:srgbClr val="3B1A0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C9952C"/>
          </a:solidFill>
          <a:ln w="12700">
            <a:solidFill>
              <a:srgbClr val="C9952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73152"/>
            <a:ext cx="8686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9. ACTIVITY RELATIONSHIP DIAGRAM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1028700" y="1380744"/>
            <a:ext cx="1417320" cy="960120"/>
          </a:xfrm>
          <a:prstGeom prst="line">
            <a:avLst/>
          </a:prstGeom>
          <a:noFill/>
          <a:ln w="12700">
            <a:solidFill>
              <a:srgbClr val="C6282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446020" y="1380744"/>
            <a:ext cx="1600200" cy="9144"/>
          </a:xfrm>
          <a:prstGeom prst="line">
            <a:avLst/>
          </a:prstGeom>
          <a:noFill/>
          <a:ln w="12700">
            <a:solidFill>
              <a:srgbClr val="C6282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046220" y="1380744"/>
            <a:ext cx="1600200" cy="9144"/>
          </a:xfrm>
          <a:prstGeom prst="line">
            <a:avLst/>
          </a:prstGeom>
          <a:noFill/>
          <a:ln w="12700">
            <a:solidFill>
              <a:srgbClr val="C6282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46420" y="1380744"/>
            <a:ext cx="1371600" cy="9144"/>
          </a:xfrm>
          <a:prstGeom prst="line">
            <a:avLst/>
          </a:prstGeom>
          <a:noFill/>
          <a:ln w="12700">
            <a:solidFill>
              <a:srgbClr val="C6282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018020" y="1380744"/>
            <a:ext cx="9144" cy="1645920"/>
          </a:xfrm>
          <a:prstGeom prst="line">
            <a:avLst/>
          </a:prstGeom>
          <a:noFill/>
          <a:ln w="12700">
            <a:solidFill>
              <a:srgbClr val="C6282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372100" y="3026664"/>
            <a:ext cx="1645920" cy="9144"/>
          </a:xfrm>
          <a:prstGeom prst="line">
            <a:avLst/>
          </a:prstGeom>
          <a:noFill/>
          <a:ln w="12700">
            <a:solidFill>
              <a:srgbClr val="C6282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71900" y="3026664"/>
            <a:ext cx="1600200" cy="9144"/>
          </a:xfrm>
          <a:prstGeom prst="line">
            <a:avLst/>
          </a:prstGeom>
          <a:noFill/>
          <a:ln w="12700">
            <a:solidFill>
              <a:srgbClr val="C6282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28700" y="2340864"/>
            <a:ext cx="2743200" cy="685800"/>
          </a:xfrm>
          <a:prstGeom prst="line">
            <a:avLst/>
          </a:prstGeom>
          <a:noFill/>
          <a:ln w="12700">
            <a:solidFill>
              <a:srgbClr val="E65100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2171700" y="3026664"/>
            <a:ext cx="1600200" cy="9144"/>
          </a:xfrm>
          <a:prstGeom prst="line">
            <a:avLst/>
          </a:prstGeom>
          <a:noFill/>
          <a:ln w="12700">
            <a:solidFill>
              <a:srgbClr val="E65100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2171700" y="3026664"/>
            <a:ext cx="3200400" cy="9144"/>
          </a:xfrm>
          <a:prstGeom prst="line">
            <a:avLst/>
          </a:prstGeom>
          <a:noFill/>
          <a:ln w="12700">
            <a:solidFill>
              <a:srgbClr val="E65100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1028700" y="2340864"/>
            <a:ext cx="685800" cy="1965960"/>
          </a:xfrm>
          <a:prstGeom prst="line">
            <a:avLst/>
          </a:prstGeom>
          <a:noFill/>
          <a:ln w="12700">
            <a:solidFill>
              <a:srgbClr val="1565C0"/>
            </a:solidFill>
            <a:prstDash val="sysDot"/>
          </a:ln>
        </p:spPr>
      </p:sp>
      <p:sp>
        <p:nvSpPr>
          <p:cNvPr id="16" name="Shape 14"/>
          <p:cNvSpPr/>
          <p:nvPr/>
        </p:nvSpPr>
        <p:spPr>
          <a:xfrm>
            <a:off x="1714500" y="3026664"/>
            <a:ext cx="457200" cy="1280160"/>
          </a:xfrm>
          <a:prstGeom prst="line">
            <a:avLst/>
          </a:prstGeom>
          <a:noFill/>
          <a:ln w="12700">
            <a:solidFill>
              <a:srgbClr val="1565C0"/>
            </a:solidFill>
            <a:prstDash val="sysDot"/>
          </a:ln>
        </p:spPr>
      </p:sp>
      <p:sp>
        <p:nvSpPr>
          <p:cNvPr id="17" name="Shape 15"/>
          <p:cNvSpPr/>
          <p:nvPr/>
        </p:nvSpPr>
        <p:spPr>
          <a:xfrm>
            <a:off x="502920" y="2103120"/>
            <a:ext cx="1051560" cy="475488"/>
          </a:xfrm>
          <a:prstGeom prst="rect">
            <a:avLst/>
          </a:prstGeom>
          <a:solidFill>
            <a:srgbClr val="6B3A2A"/>
          </a:solidFill>
          <a:ln w="12700">
            <a:solidFill>
              <a:srgbClr val="FFFFFF"/>
            </a:solidFill>
            <a:prstDash val="solid"/>
          </a:ln>
          <a:effectLst>
            <a:outerShdw blurRad="762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02920" y="2103120"/>
            <a:ext cx="1051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Receiving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920240" y="1143000"/>
            <a:ext cx="1051560" cy="475488"/>
          </a:xfrm>
          <a:prstGeom prst="rect">
            <a:avLst/>
          </a:prstGeom>
          <a:solidFill>
            <a:srgbClr val="6B3A2A"/>
          </a:solidFill>
          <a:ln w="12700">
            <a:solidFill>
              <a:srgbClr val="FFFFFF"/>
            </a:solidFill>
            <a:prstDash val="solid"/>
          </a:ln>
          <a:effectLst>
            <a:outerShdw blurRad="762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920240" y="1143000"/>
            <a:ext cx="1051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Mixing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520440" y="1143000"/>
            <a:ext cx="1051560" cy="475488"/>
          </a:xfrm>
          <a:prstGeom prst="rect">
            <a:avLst/>
          </a:prstGeom>
          <a:solidFill>
            <a:srgbClr val="6B3A2A"/>
          </a:solidFill>
          <a:ln w="12700">
            <a:solidFill>
              <a:srgbClr val="FFFFFF"/>
            </a:solidFill>
            <a:prstDash val="solid"/>
          </a:ln>
          <a:effectLst>
            <a:outerShdw blurRad="762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520440" y="1143000"/>
            <a:ext cx="1051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Conching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120640" y="1143000"/>
            <a:ext cx="1051560" cy="475488"/>
          </a:xfrm>
          <a:prstGeom prst="rect">
            <a:avLst/>
          </a:prstGeom>
          <a:solidFill>
            <a:srgbClr val="6B3A2A"/>
          </a:solidFill>
          <a:ln w="12700">
            <a:solidFill>
              <a:srgbClr val="FFFFFF"/>
            </a:solidFill>
            <a:prstDash val="solid"/>
          </a:ln>
          <a:effectLst>
            <a:outerShdw blurRad="762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120640" y="1143000"/>
            <a:ext cx="1051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Tempering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492240" y="1143000"/>
            <a:ext cx="1051560" cy="475488"/>
          </a:xfrm>
          <a:prstGeom prst="rect">
            <a:avLst/>
          </a:prstGeom>
          <a:solidFill>
            <a:srgbClr val="6B3A2A"/>
          </a:solidFill>
          <a:ln w="12700">
            <a:solidFill>
              <a:srgbClr val="FFFFFF"/>
            </a:solidFill>
            <a:prstDash val="solid"/>
          </a:ln>
          <a:effectLst>
            <a:outerShdw blurRad="762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492240" y="1143000"/>
            <a:ext cx="1051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Moulding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492240" y="2788920"/>
            <a:ext cx="1051560" cy="475488"/>
          </a:xfrm>
          <a:prstGeom prst="rect">
            <a:avLst/>
          </a:prstGeom>
          <a:solidFill>
            <a:srgbClr val="6B3A2A"/>
          </a:solidFill>
          <a:ln w="12700">
            <a:solidFill>
              <a:srgbClr val="FFFFFF"/>
            </a:solidFill>
            <a:prstDash val="solid"/>
          </a:ln>
          <a:effectLst>
            <a:outerShdw blurRad="762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492240" y="2788920"/>
            <a:ext cx="1051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Cooling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846320" y="2788920"/>
            <a:ext cx="1051560" cy="475488"/>
          </a:xfrm>
          <a:prstGeom prst="rect">
            <a:avLst/>
          </a:prstGeom>
          <a:solidFill>
            <a:srgbClr val="6B3A2A"/>
          </a:solidFill>
          <a:ln w="12700">
            <a:solidFill>
              <a:srgbClr val="FFFFFF"/>
            </a:solidFill>
            <a:prstDash val="solid"/>
          </a:ln>
          <a:effectLst>
            <a:outerShdw blurRad="762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846320" y="2788920"/>
            <a:ext cx="1051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Packaging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246120" y="2788920"/>
            <a:ext cx="1051560" cy="475488"/>
          </a:xfrm>
          <a:prstGeom prst="rect">
            <a:avLst/>
          </a:prstGeom>
          <a:solidFill>
            <a:srgbClr val="6B3A2A"/>
          </a:solidFill>
          <a:ln w="12700">
            <a:solidFill>
              <a:srgbClr val="FFFFFF"/>
            </a:solidFill>
            <a:prstDash val="solid"/>
          </a:ln>
          <a:effectLst>
            <a:outerShdw blurRad="762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246120" y="2788920"/>
            <a:ext cx="1051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Dispatch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1645920" y="2788920"/>
            <a:ext cx="1051560" cy="475488"/>
          </a:xfrm>
          <a:prstGeom prst="rect">
            <a:avLst/>
          </a:prstGeom>
          <a:solidFill>
            <a:srgbClr val="9E9E9E"/>
          </a:solidFill>
          <a:ln w="12700">
            <a:solidFill>
              <a:srgbClr val="FFFFFF"/>
            </a:solidFill>
            <a:prstDash val="solid"/>
          </a:ln>
          <a:effectLst>
            <a:outerShdw blurRad="762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1645920" y="2788920"/>
            <a:ext cx="1051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QC Lab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1188720" y="4069080"/>
            <a:ext cx="1051560" cy="475488"/>
          </a:xfrm>
          <a:prstGeom prst="rect">
            <a:avLst/>
          </a:prstGeom>
          <a:solidFill>
            <a:srgbClr val="9E9E9E"/>
          </a:solidFill>
          <a:ln w="12700">
            <a:solidFill>
              <a:srgbClr val="FFFFFF"/>
            </a:solidFill>
            <a:prstDash val="solid"/>
          </a:ln>
          <a:effectLst>
            <a:outerShdw blurRad="762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1188720" y="4069080"/>
            <a:ext cx="1051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Utilities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7772400" y="960120"/>
            <a:ext cx="12344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A87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845552" y="1115568"/>
            <a:ext cx="292608" cy="0"/>
          </a:xfrm>
          <a:prstGeom prst="line">
            <a:avLst/>
          </a:prstGeom>
          <a:noFill/>
          <a:ln w="12700">
            <a:solidFill>
              <a:srgbClr val="C6282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183880" y="1042416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2C1A0E"/>
                </a:solidFill>
              </a:rPr>
              <a:t>A – Absolutely Nec.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7845552" y="1499616"/>
            <a:ext cx="292608" cy="0"/>
          </a:xfrm>
          <a:prstGeom prst="line">
            <a:avLst/>
          </a:prstGeom>
          <a:noFill/>
          <a:ln w="12700">
            <a:solidFill>
              <a:srgbClr val="E651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183880" y="1426464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2C1A0E"/>
                </a:solidFill>
              </a:rPr>
              <a:t>E – Especially Imp.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7845552" y="1883664"/>
            <a:ext cx="292608" cy="0"/>
          </a:xfrm>
          <a:prstGeom prst="line">
            <a:avLst/>
          </a:prstGeom>
          <a:noFill/>
          <a:ln w="12700">
            <a:solidFill>
              <a:srgbClr val="1565C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183880" y="1810512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2C1A0E"/>
                </a:solidFill>
              </a:rPr>
              <a:t>I – Important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201168" y="4617720"/>
            <a:ext cx="8732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B3A2A"/>
                </a:solidFill>
              </a:rPr>
              <a:t>Flow: Receiving → Mixing → Conching → Tempering → Moulding → Cooling → Packaging → Dispatch</a:t>
            </a:r>
            <a:endParaRPr lang="en-US" sz="850" dirty="0"/>
          </a:p>
          <a:p>
            <a:pPr marL="0" indent="0" algn="ctr">
              <a:buNone/>
            </a:pPr>
            <a:r>
              <a:rPr lang="en-US" sz="850" i="1" dirty="0">
                <a:solidFill>
                  <a:srgbClr val="6B3A2A"/>
                </a:solidFill>
              </a:rPr>
              <a:t>(U-shaped loop; QC Lab and Utilities support all stations)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6B3A2A"/>
          </a:solidFill>
          <a:ln w="12700">
            <a:solidFill>
              <a:srgbClr val="6B3A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C9952C"/>
          </a:solidFill>
          <a:ln w="12700">
            <a:solidFill>
              <a:srgbClr val="C9952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73152"/>
            <a:ext cx="8686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10. FROM-TO CHART — Material Flow (kg/day)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1115568" y="932688"/>
            <a:ext cx="960120" cy="411480"/>
          </a:xfrm>
          <a:prstGeom prst="rect">
            <a:avLst/>
          </a:prstGeom>
          <a:solidFill>
            <a:srgbClr val="3B1A0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5568" y="932688"/>
            <a:ext cx="960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Receivi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2075688" y="932688"/>
            <a:ext cx="960120" cy="411480"/>
          </a:xfrm>
          <a:prstGeom prst="rect">
            <a:avLst/>
          </a:prstGeom>
          <a:solidFill>
            <a:srgbClr val="3B1A0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75688" y="932688"/>
            <a:ext cx="960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Mixing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3035808" y="932688"/>
            <a:ext cx="960120" cy="411480"/>
          </a:xfrm>
          <a:prstGeom prst="rect">
            <a:avLst/>
          </a:prstGeom>
          <a:solidFill>
            <a:srgbClr val="3B1A0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35808" y="932688"/>
            <a:ext cx="960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Conchin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3995928" y="932688"/>
            <a:ext cx="960120" cy="411480"/>
          </a:xfrm>
          <a:prstGeom prst="rect">
            <a:avLst/>
          </a:prstGeom>
          <a:solidFill>
            <a:srgbClr val="3B1A0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95928" y="932688"/>
            <a:ext cx="960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Temperi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4956048" y="932688"/>
            <a:ext cx="960120" cy="411480"/>
          </a:xfrm>
          <a:prstGeom prst="rect">
            <a:avLst/>
          </a:prstGeom>
          <a:solidFill>
            <a:srgbClr val="3B1A0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56048" y="932688"/>
            <a:ext cx="960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Mouldin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5916168" y="932688"/>
            <a:ext cx="960120" cy="411480"/>
          </a:xfrm>
          <a:prstGeom prst="rect">
            <a:avLst/>
          </a:prstGeom>
          <a:solidFill>
            <a:srgbClr val="3B1A0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16168" y="932688"/>
            <a:ext cx="960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Cooling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6876288" y="932688"/>
            <a:ext cx="960120" cy="411480"/>
          </a:xfrm>
          <a:prstGeom prst="rect">
            <a:avLst/>
          </a:prstGeom>
          <a:solidFill>
            <a:srgbClr val="3B1A0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76288" y="932688"/>
            <a:ext cx="960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Packagi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7836408" y="932688"/>
            <a:ext cx="960120" cy="411480"/>
          </a:xfrm>
          <a:prstGeom prst="rect">
            <a:avLst/>
          </a:prstGeom>
          <a:solidFill>
            <a:srgbClr val="3B1A0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836408" y="932688"/>
            <a:ext cx="960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Dispatc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164592" y="1344168"/>
            <a:ext cx="950976" cy="475488"/>
          </a:xfrm>
          <a:prstGeom prst="rect">
            <a:avLst/>
          </a:prstGeom>
          <a:solidFill>
            <a:srgbClr val="6B3A2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64592" y="1344168"/>
            <a:ext cx="95097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Receivi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1115568" y="1344168"/>
            <a:ext cx="960120" cy="475488"/>
          </a:xfrm>
          <a:prstGeom prst="rect">
            <a:avLst/>
          </a:prstGeom>
          <a:solidFill>
            <a:srgbClr val="C9A87C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15568" y="1344168"/>
            <a:ext cx="960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—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075688" y="1344168"/>
            <a:ext cx="960120" cy="475488"/>
          </a:xfrm>
          <a:prstGeom prst="rect">
            <a:avLst/>
          </a:prstGeom>
          <a:solidFill>
            <a:srgbClr val="7B3F00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075688" y="1344168"/>
            <a:ext cx="960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5,000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3035808" y="1344168"/>
            <a:ext cx="960120" cy="475488"/>
          </a:xfrm>
          <a:prstGeom prst="rect">
            <a:avLst/>
          </a:prstGeom>
          <a:solidFill>
            <a:srgbClr val="F0E8DF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995928" y="1344168"/>
            <a:ext cx="960120" cy="475488"/>
          </a:xfrm>
          <a:prstGeom prst="rect">
            <a:avLst/>
          </a:prstGeom>
          <a:solidFill>
            <a:srgbClr val="F0E8DF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956048" y="1344168"/>
            <a:ext cx="960120" cy="475488"/>
          </a:xfrm>
          <a:prstGeom prst="rect">
            <a:avLst/>
          </a:prstGeom>
          <a:solidFill>
            <a:srgbClr val="F0E8DF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916168" y="1344168"/>
            <a:ext cx="960120" cy="475488"/>
          </a:xfrm>
          <a:prstGeom prst="rect">
            <a:avLst/>
          </a:prstGeom>
          <a:solidFill>
            <a:srgbClr val="F0E8DF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876288" y="1344168"/>
            <a:ext cx="960120" cy="475488"/>
          </a:xfrm>
          <a:prstGeom prst="rect">
            <a:avLst/>
          </a:prstGeom>
          <a:solidFill>
            <a:srgbClr val="F0E8DF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836408" y="1344168"/>
            <a:ext cx="960120" cy="475488"/>
          </a:xfrm>
          <a:prstGeom prst="rect">
            <a:avLst/>
          </a:prstGeom>
          <a:solidFill>
            <a:srgbClr val="F0E8DF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64592" y="1819656"/>
            <a:ext cx="950976" cy="475488"/>
          </a:xfrm>
          <a:prstGeom prst="rect">
            <a:avLst/>
          </a:prstGeom>
          <a:solidFill>
            <a:srgbClr val="6B3A2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64592" y="1819656"/>
            <a:ext cx="95097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Mixing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1115568" y="1819656"/>
            <a:ext cx="960120" cy="475488"/>
          </a:xfrm>
          <a:prstGeom prst="rect">
            <a:avLst/>
          </a:prstGeom>
          <a:solidFill>
            <a:srgbClr val="F0E8DF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075688" y="1819656"/>
            <a:ext cx="960120" cy="475488"/>
          </a:xfrm>
          <a:prstGeom prst="rect">
            <a:avLst/>
          </a:prstGeom>
          <a:solidFill>
            <a:srgbClr val="C9A87C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075688" y="1819656"/>
            <a:ext cx="960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—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035808" y="1819656"/>
            <a:ext cx="960120" cy="475488"/>
          </a:xfrm>
          <a:prstGeom prst="rect">
            <a:avLst/>
          </a:prstGeom>
          <a:solidFill>
            <a:srgbClr val="7B3F00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035808" y="1819656"/>
            <a:ext cx="960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5,000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3995928" y="1819656"/>
            <a:ext cx="960120" cy="475488"/>
          </a:xfrm>
          <a:prstGeom prst="rect">
            <a:avLst/>
          </a:prstGeom>
          <a:solidFill>
            <a:srgbClr val="F0E8DF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956048" y="1819656"/>
            <a:ext cx="960120" cy="475488"/>
          </a:xfrm>
          <a:prstGeom prst="rect">
            <a:avLst/>
          </a:prstGeom>
          <a:solidFill>
            <a:srgbClr val="F0E8DF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916168" y="1819656"/>
            <a:ext cx="960120" cy="475488"/>
          </a:xfrm>
          <a:prstGeom prst="rect">
            <a:avLst/>
          </a:prstGeom>
          <a:solidFill>
            <a:srgbClr val="F0E8DF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876288" y="1819656"/>
            <a:ext cx="960120" cy="475488"/>
          </a:xfrm>
          <a:prstGeom prst="rect">
            <a:avLst/>
          </a:prstGeom>
          <a:solidFill>
            <a:srgbClr val="F0E8DF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836408" y="1819656"/>
            <a:ext cx="960120" cy="475488"/>
          </a:xfrm>
          <a:prstGeom prst="rect">
            <a:avLst/>
          </a:prstGeom>
          <a:solidFill>
            <a:srgbClr val="F0E8DF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64592" y="2295144"/>
            <a:ext cx="950976" cy="475488"/>
          </a:xfrm>
          <a:prstGeom prst="rect">
            <a:avLst/>
          </a:prstGeom>
          <a:solidFill>
            <a:srgbClr val="6B3A2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64592" y="2295144"/>
            <a:ext cx="95097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Conchin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1115568" y="2295144"/>
            <a:ext cx="960120" cy="475488"/>
          </a:xfrm>
          <a:prstGeom prst="rect">
            <a:avLst/>
          </a:prstGeom>
          <a:solidFill>
            <a:srgbClr val="F0E8DF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075688" y="2295144"/>
            <a:ext cx="960120" cy="475488"/>
          </a:xfrm>
          <a:prstGeom prst="rect">
            <a:avLst/>
          </a:prstGeom>
          <a:solidFill>
            <a:srgbClr val="F0E8DF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035808" y="2295144"/>
            <a:ext cx="960120" cy="475488"/>
          </a:xfrm>
          <a:prstGeom prst="rect">
            <a:avLst/>
          </a:prstGeom>
          <a:solidFill>
            <a:srgbClr val="C9A87C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035808" y="2295144"/>
            <a:ext cx="960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—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3995928" y="2295144"/>
            <a:ext cx="960120" cy="475488"/>
          </a:xfrm>
          <a:prstGeom prst="rect">
            <a:avLst/>
          </a:prstGeom>
          <a:solidFill>
            <a:srgbClr val="7B3F00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995928" y="2295144"/>
            <a:ext cx="960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5,000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4956048" y="2295144"/>
            <a:ext cx="960120" cy="475488"/>
          </a:xfrm>
          <a:prstGeom prst="rect">
            <a:avLst/>
          </a:prstGeom>
          <a:solidFill>
            <a:srgbClr val="F0E8DF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916168" y="2295144"/>
            <a:ext cx="960120" cy="475488"/>
          </a:xfrm>
          <a:prstGeom prst="rect">
            <a:avLst/>
          </a:prstGeom>
          <a:solidFill>
            <a:srgbClr val="F0E8DF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876288" y="2295144"/>
            <a:ext cx="960120" cy="475488"/>
          </a:xfrm>
          <a:prstGeom prst="rect">
            <a:avLst/>
          </a:prstGeom>
          <a:solidFill>
            <a:srgbClr val="F0E8DF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836408" y="2295144"/>
            <a:ext cx="960120" cy="475488"/>
          </a:xfrm>
          <a:prstGeom prst="rect">
            <a:avLst/>
          </a:prstGeom>
          <a:solidFill>
            <a:srgbClr val="F0E8DF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64592" y="2770632"/>
            <a:ext cx="950976" cy="475488"/>
          </a:xfrm>
          <a:prstGeom prst="rect">
            <a:avLst/>
          </a:prstGeom>
          <a:solidFill>
            <a:srgbClr val="6B3A2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64592" y="2770632"/>
            <a:ext cx="95097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Temperi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1115568" y="2770632"/>
            <a:ext cx="960120" cy="475488"/>
          </a:xfrm>
          <a:prstGeom prst="rect">
            <a:avLst/>
          </a:prstGeom>
          <a:solidFill>
            <a:srgbClr val="F0E8DF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075688" y="2770632"/>
            <a:ext cx="960120" cy="475488"/>
          </a:xfrm>
          <a:prstGeom prst="rect">
            <a:avLst/>
          </a:prstGeom>
          <a:solidFill>
            <a:srgbClr val="F0E8DF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3035808" y="2770632"/>
            <a:ext cx="960120" cy="475488"/>
          </a:xfrm>
          <a:prstGeom prst="rect">
            <a:avLst/>
          </a:prstGeom>
          <a:solidFill>
            <a:srgbClr val="F0E8DF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3995928" y="2770632"/>
            <a:ext cx="960120" cy="475488"/>
          </a:xfrm>
          <a:prstGeom prst="rect">
            <a:avLst/>
          </a:prstGeom>
          <a:solidFill>
            <a:srgbClr val="C9A87C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995928" y="2770632"/>
            <a:ext cx="960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—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4956048" y="2770632"/>
            <a:ext cx="960120" cy="475488"/>
          </a:xfrm>
          <a:prstGeom prst="rect">
            <a:avLst/>
          </a:prstGeom>
          <a:solidFill>
            <a:srgbClr val="7B3F00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956048" y="2770632"/>
            <a:ext cx="960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3,500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5916168" y="2770632"/>
            <a:ext cx="960120" cy="475488"/>
          </a:xfrm>
          <a:prstGeom prst="rect">
            <a:avLst/>
          </a:prstGeom>
          <a:solidFill>
            <a:srgbClr val="F0E8DF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876288" y="2770632"/>
            <a:ext cx="960120" cy="475488"/>
          </a:xfrm>
          <a:prstGeom prst="rect">
            <a:avLst/>
          </a:prstGeom>
          <a:solidFill>
            <a:srgbClr val="F0E8DF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7836408" y="2770632"/>
            <a:ext cx="960120" cy="475488"/>
          </a:xfrm>
          <a:prstGeom prst="rect">
            <a:avLst/>
          </a:prstGeom>
          <a:solidFill>
            <a:srgbClr val="F0E8DF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64592" y="3246120"/>
            <a:ext cx="950976" cy="475488"/>
          </a:xfrm>
          <a:prstGeom prst="rect">
            <a:avLst/>
          </a:prstGeom>
          <a:solidFill>
            <a:srgbClr val="6B3A2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164592" y="3246120"/>
            <a:ext cx="95097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Mouldin</a:t>
            </a:r>
            <a:endParaRPr lang="en-US" sz="750" dirty="0"/>
          </a:p>
        </p:txBody>
      </p:sp>
      <p:sp>
        <p:nvSpPr>
          <p:cNvPr id="71" name="Shape 69"/>
          <p:cNvSpPr/>
          <p:nvPr/>
        </p:nvSpPr>
        <p:spPr>
          <a:xfrm>
            <a:off x="1115568" y="3246120"/>
            <a:ext cx="960120" cy="475488"/>
          </a:xfrm>
          <a:prstGeom prst="rect">
            <a:avLst/>
          </a:prstGeom>
          <a:solidFill>
            <a:srgbClr val="F0E8DF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2075688" y="3246120"/>
            <a:ext cx="960120" cy="475488"/>
          </a:xfrm>
          <a:prstGeom prst="rect">
            <a:avLst/>
          </a:prstGeom>
          <a:solidFill>
            <a:srgbClr val="F0E8DF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3035808" y="3246120"/>
            <a:ext cx="960120" cy="475488"/>
          </a:xfrm>
          <a:prstGeom prst="rect">
            <a:avLst/>
          </a:prstGeom>
          <a:solidFill>
            <a:srgbClr val="F0E8DF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3995928" y="3246120"/>
            <a:ext cx="960120" cy="475488"/>
          </a:xfrm>
          <a:prstGeom prst="rect">
            <a:avLst/>
          </a:prstGeom>
          <a:solidFill>
            <a:srgbClr val="F0E8DF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4956048" y="3246120"/>
            <a:ext cx="960120" cy="475488"/>
          </a:xfrm>
          <a:prstGeom prst="rect">
            <a:avLst/>
          </a:prstGeom>
          <a:solidFill>
            <a:srgbClr val="C9A87C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956048" y="3246120"/>
            <a:ext cx="960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—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5916168" y="3246120"/>
            <a:ext cx="960120" cy="475488"/>
          </a:xfrm>
          <a:prstGeom prst="rect">
            <a:avLst/>
          </a:prstGeom>
          <a:solidFill>
            <a:srgbClr val="7B3F00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5916168" y="3246120"/>
            <a:ext cx="960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5,000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6876288" y="3246120"/>
            <a:ext cx="960120" cy="475488"/>
          </a:xfrm>
          <a:prstGeom prst="rect">
            <a:avLst/>
          </a:prstGeom>
          <a:solidFill>
            <a:srgbClr val="F0E8DF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7836408" y="3246120"/>
            <a:ext cx="960120" cy="475488"/>
          </a:xfrm>
          <a:prstGeom prst="rect">
            <a:avLst/>
          </a:prstGeom>
          <a:solidFill>
            <a:srgbClr val="F0E8DF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164592" y="3721608"/>
            <a:ext cx="950976" cy="475488"/>
          </a:xfrm>
          <a:prstGeom prst="rect">
            <a:avLst/>
          </a:prstGeom>
          <a:solidFill>
            <a:srgbClr val="6B3A2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164592" y="3721608"/>
            <a:ext cx="95097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Cooling</a:t>
            </a:r>
            <a:endParaRPr lang="en-US" sz="750" dirty="0"/>
          </a:p>
        </p:txBody>
      </p:sp>
      <p:sp>
        <p:nvSpPr>
          <p:cNvPr id="83" name="Shape 81"/>
          <p:cNvSpPr/>
          <p:nvPr/>
        </p:nvSpPr>
        <p:spPr>
          <a:xfrm>
            <a:off x="1115568" y="3721608"/>
            <a:ext cx="960120" cy="475488"/>
          </a:xfrm>
          <a:prstGeom prst="rect">
            <a:avLst/>
          </a:prstGeom>
          <a:solidFill>
            <a:srgbClr val="F0E8DF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2075688" y="3721608"/>
            <a:ext cx="960120" cy="475488"/>
          </a:xfrm>
          <a:prstGeom prst="rect">
            <a:avLst/>
          </a:prstGeom>
          <a:solidFill>
            <a:srgbClr val="F0E8DF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3035808" y="3721608"/>
            <a:ext cx="960120" cy="475488"/>
          </a:xfrm>
          <a:prstGeom prst="rect">
            <a:avLst/>
          </a:prstGeom>
          <a:solidFill>
            <a:srgbClr val="F0E8DF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3995928" y="3721608"/>
            <a:ext cx="960120" cy="475488"/>
          </a:xfrm>
          <a:prstGeom prst="rect">
            <a:avLst/>
          </a:prstGeom>
          <a:solidFill>
            <a:srgbClr val="F0E8DF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4956048" y="3721608"/>
            <a:ext cx="960120" cy="475488"/>
          </a:xfrm>
          <a:prstGeom prst="rect">
            <a:avLst/>
          </a:prstGeom>
          <a:solidFill>
            <a:srgbClr val="F0E8DF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5916168" y="3721608"/>
            <a:ext cx="960120" cy="475488"/>
          </a:xfrm>
          <a:prstGeom prst="rect">
            <a:avLst/>
          </a:prstGeom>
          <a:solidFill>
            <a:srgbClr val="C9A87C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5916168" y="3721608"/>
            <a:ext cx="960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—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6876288" y="3721608"/>
            <a:ext cx="960120" cy="475488"/>
          </a:xfrm>
          <a:prstGeom prst="rect">
            <a:avLst/>
          </a:prstGeom>
          <a:solidFill>
            <a:srgbClr val="7B3F00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6876288" y="3721608"/>
            <a:ext cx="960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5,000</a:t>
            </a:r>
            <a:endParaRPr lang="en-US" sz="800" dirty="0"/>
          </a:p>
        </p:txBody>
      </p:sp>
      <p:sp>
        <p:nvSpPr>
          <p:cNvPr id="92" name="Shape 90"/>
          <p:cNvSpPr/>
          <p:nvPr/>
        </p:nvSpPr>
        <p:spPr>
          <a:xfrm>
            <a:off x="7836408" y="3721608"/>
            <a:ext cx="960120" cy="475488"/>
          </a:xfrm>
          <a:prstGeom prst="rect">
            <a:avLst/>
          </a:prstGeom>
          <a:solidFill>
            <a:srgbClr val="F0E8DF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164592" y="4197096"/>
            <a:ext cx="950976" cy="475488"/>
          </a:xfrm>
          <a:prstGeom prst="rect">
            <a:avLst/>
          </a:prstGeom>
          <a:solidFill>
            <a:srgbClr val="6B3A2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164592" y="4197096"/>
            <a:ext cx="95097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Packagi</a:t>
            </a:r>
            <a:endParaRPr lang="en-US" sz="750" dirty="0"/>
          </a:p>
        </p:txBody>
      </p:sp>
      <p:sp>
        <p:nvSpPr>
          <p:cNvPr id="95" name="Shape 93"/>
          <p:cNvSpPr/>
          <p:nvPr/>
        </p:nvSpPr>
        <p:spPr>
          <a:xfrm>
            <a:off x="1115568" y="4197096"/>
            <a:ext cx="960120" cy="475488"/>
          </a:xfrm>
          <a:prstGeom prst="rect">
            <a:avLst/>
          </a:prstGeom>
          <a:solidFill>
            <a:srgbClr val="F0E8DF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2075688" y="4197096"/>
            <a:ext cx="960120" cy="475488"/>
          </a:xfrm>
          <a:prstGeom prst="rect">
            <a:avLst/>
          </a:prstGeom>
          <a:solidFill>
            <a:srgbClr val="F0E8DF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3035808" y="4197096"/>
            <a:ext cx="960120" cy="475488"/>
          </a:xfrm>
          <a:prstGeom prst="rect">
            <a:avLst/>
          </a:prstGeom>
          <a:solidFill>
            <a:srgbClr val="F0E8DF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3995928" y="4197096"/>
            <a:ext cx="960120" cy="475488"/>
          </a:xfrm>
          <a:prstGeom prst="rect">
            <a:avLst/>
          </a:prstGeom>
          <a:solidFill>
            <a:srgbClr val="F0E8DF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4956048" y="4197096"/>
            <a:ext cx="960120" cy="475488"/>
          </a:xfrm>
          <a:prstGeom prst="rect">
            <a:avLst/>
          </a:prstGeom>
          <a:solidFill>
            <a:srgbClr val="F0E8DF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5916168" y="4197096"/>
            <a:ext cx="960120" cy="475488"/>
          </a:xfrm>
          <a:prstGeom prst="rect">
            <a:avLst/>
          </a:prstGeom>
          <a:solidFill>
            <a:srgbClr val="F0E8DF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6876288" y="4197096"/>
            <a:ext cx="960120" cy="475488"/>
          </a:xfrm>
          <a:prstGeom prst="rect">
            <a:avLst/>
          </a:prstGeom>
          <a:solidFill>
            <a:srgbClr val="C9A87C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6876288" y="4197096"/>
            <a:ext cx="960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—</a:t>
            </a:r>
            <a:endParaRPr lang="en-US" sz="900" dirty="0"/>
          </a:p>
        </p:txBody>
      </p:sp>
      <p:sp>
        <p:nvSpPr>
          <p:cNvPr id="103" name="Shape 101"/>
          <p:cNvSpPr/>
          <p:nvPr/>
        </p:nvSpPr>
        <p:spPr>
          <a:xfrm>
            <a:off x="7836408" y="4197096"/>
            <a:ext cx="960120" cy="475488"/>
          </a:xfrm>
          <a:prstGeom prst="rect">
            <a:avLst/>
          </a:prstGeom>
          <a:solidFill>
            <a:srgbClr val="7B3F00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7836408" y="4197096"/>
            <a:ext cx="960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5,000</a:t>
            </a:r>
            <a:endParaRPr lang="en-US" sz="800" dirty="0"/>
          </a:p>
        </p:txBody>
      </p:sp>
      <p:sp>
        <p:nvSpPr>
          <p:cNvPr id="105" name="Shape 103"/>
          <p:cNvSpPr/>
          <p:nvPr/>
        </p:nvSpPr>
        <p:spPr>
          <a:xfrm>
            <a:off x="164592" y="4672584"/>
            <a:ext cx="950976" cy="475488"/>
          </a:xfrm>
          <a:prstGeom prst="rect">
            <a:avLst/>
          </a:prstGeom>
          <a:solidFill>
            <a:srgbClr val="6B3A2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164592" y="4672584"/>
            <a:ext cx="95097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Dispatc</a:t>
            </a:r>
            <a:endParaRPr lang="en-US" sz="750" dirty="0"/>
          </a:p>
        </p:txBody>
      </p:sp>
      <p:sp>
        <p:nvSpPr>
          <p:cNvPr id="107" name="Shape 105"/>
          <p:cNvSpPr/>
          <p:nvPr/>
        </p:nvSpPr>
        <p:spPr>
          <a:xfrm>
            <a:off x="1115568" y="4672584"/>
            <a:ext cx="960120" cy="475488"/>
          </a:xfrm>
          <a:prstGeom prst="rect">
            <a:avLst/>
          </a:prstGeom>
          <a:solidFill>
            <a:srgbClr val="F0E8DF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2075688" y="4672584"/>
            <a:ext cx="960120" cy="475488"/>
          </a:xfrm>
          <a:prstGeom prst="rect">
            <a:avLst/>
          </a:prstGeom>
          <a:solidFill>
            <a:srgbClr val="F0E8DF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3035808" y="4672584"/>
            <a:ext cx="960120" cy="475488"/>
          </a:xfrm>
          <a:prstGeom prst="rect">
            <a:avLst/>
          </a:prstGeom>
          <a:solidFill>
            <a:srgbClr val="F0E8DF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3995928" y="4672584"/>
            <a:ext cx="960120" cy="475488"/>
          </a:xfrm>
          <a:prstGeom prst="rect">
            <a:avLst/>
          </a:prstGeom>
          <a:solidFill>
            <a:srgbClr val="F0E8DF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4956048" y="4672584"/>
            <a:ext cx="960120" cy="475488"/>
          </a:xfrm>
          <a:prstGeom prst="rect">
            <a:avLst/>
          </a:prstGeom>
          <a:solidFill>
            <a:srgbClr val="F0E8DF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5916168" y="4672584"/>
            <a:ext cx="960120" cy="475488"/>
          </a:xfrm>
          <a:prstGeom prst="rect">
            <a:avLst/>
          </a:prstGeom>
          <a:solidFill>
            <a:srgbClr val="F0E8DF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6876288" y="4672584"/>
            <a:ext cx="960120" cy="475488"/>
          </a:xfrm>
          <a:prstGeom prst="rect">
            <a:avLst/>
          </a:prstGeom>
          <a:solidFill>
            <a:srgbClr val="F0E8DF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7836408" y="4672584"/>
            <a:ext cx="960120" cy="475488"/>
          </a:xfrm>
          <a:prstGeom prst="rect">
            <a:avLst/>
          </a:prstGeom>
          <a:solidFill>
            <a:srgbClr val="C9A87C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7836408" y="4672584"/>
            <a:ext cx="960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—</a:t>
            </a:r>
            <a:endParaRPr lang="en-US" sz="900" dirty="0"/>
          </a:p>
        </p:txBody>
      </p:sp>
      <p:sp>
        <p:nvSpPr>
          <p:cNvPr id="116" name="Text 114"/>
          <p:cNvSpPr/>
          <p:nvPr/>
        </p:nvSpPr>
        <p:spPr>
          <a:xfrm>
            <a:off x="164592" y="4846320"/>
            <a:ext cx="87965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3A2A"/>
                </a:solidFill>
              </a:rPr>
              <a:t>★  Zero backflow — all material moves forward in the production sequence. Peak throughput: 5,000 kg/day.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DF3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3B1A08"/>
          </a:solidFill>
          <a:ln w="12700">
            <a:solidFill>
              <a:srgbClr val="3B1A0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C9952C"/>
          </a:solidFill>
          <a:ln w="12700">
            <a:solidFill>
              <a:srgbClr val="C9952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73152"/>
            <a:ext cx="8686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11. WORKSTATIONS TOTAL AREA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201168" y="877824"/>
            <a:ext cx="2514600" cy="365760"/>
          </a:xfrm>
          <a:prstGeom prst="rect">
            <a:avLst/>
          </a:prstGeom>
          <a:solidFill>
            <a:srgbClr val="3B1A08"/>
          </a:solidFill>
          <a:ln w="12700">
            <a:solidFill>
              <a:srgbClr val="3B1A0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46888" y="877824"/>
            <a:ext cx="2441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</a:rPr>
              <a:t>Department / Workstation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715768" y="877824"/>
            <a:ext cx="457200" cy="365760"/>
          </a:xfrm>
          <a:prstGeom prst="rect">
            <a:avLst/>
          </a:prstGeom>
          <a:solidFill>
            <a:srgbClr val="3B1A08"/>
          </a:solidFill>
          <a:ln w="12700">
            <a:solidFill>
              <a:srgbClr val="3B1A0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61488" y="877824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</a:rPr>
              <a:t>Qty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172968" y="877824"/>
            <a:ext cx="1143000" cy="365760"/>
          </a:xfrm>
          <a:prstGeom prst="rect">
            <a:avLst/>
          </a:prstGeom>
          <a:solidFill>
            <a:srgbClr val="3B1A08"/>
          </a:solidFill>
          <a:ln w="12700">
            <a:solidFill>
              <a:srgbClr val="3B1A0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18688" y="877824"/>
            <a:ext cx="1069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</a:rPr>
              <a:t>Dimensions (m)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315968" y="877824"/>
            <a:ext cx="1234440" cy="365760"/>
          </a:xfrm>
          <a:prstGeom prst="rect">
            <a:avLst/>
          </a:prstGeom>
          <a:solidFill>
            <a:srgbClr val="3B1A08"/>
          </a:solidFill>
          <a:ln w="12700">
            <a:solidFill>
              <a:srgbClr val="3B1A0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61688" y="877824"/>
            <a:ext cx="11612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</a:rPr>
              <a:t>Unit Area (m²)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550408" y="877824"/>
            <a:ext cx="1097280" cy="365760"/>
          </a:xfrm>
          <a:prstGeom prst="rect">
            <a:avLst/>
          </a:prstGeom>
          <a:solidFill>
            <a:srgbClr val="3B1A08"/>
          </a:solidFill>
          <a:ln w="12700">
            <a:solidFill>
              <a:srgbClr val="3B1A0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96128" y="877824"/>
            <a:ext cx="10241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</a:rPr>
              <a:t>Space Factor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647688" y="877824"/>
            <a:ext cx="1463040" cy="365760"/>
          </a:xfrm>
          <a:prstGeom prst="rect">
            <a:avLst/>
          </a:prstGeom>
          <a:solidFill>
            <a:srgbClr val="3B1A08"/>
          </a:solidFill>
          <a:ln w="12700">
            <a:solidFill>
              <a:srgbClr val="3B1A0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93408" y="877824"/>
            <a:ext cx="1389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</a:rPr>
              <a:t>Total Area (m²)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01168" y="1243584"/>
            <a:ext cx="25146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46888" y="1243584"/>
            <a:ext cx="2441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2C1A0E"/>
                </a:solidFill>
              </a:rPr>
              <a:t>Receiving &amp; Inspection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715768" y="1243584"/>
            <a:ext cx="4572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61488" y="1243584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2C1A0E"/>
                </a:solidFill>
              </a:rPr>
              <a:t>1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172968" y="1243584"/>
            <a:ext cx="11430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18688" y="1243584"/>
            <a:ext cx="10698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2C1A0E"/>
                </a:solidFill>
              </a:rPr>
              <a:t>8.0 × 6.0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315968" y="1243584"/>
            <a:ext cx="12344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61688" y="1243584"/>
            <a:ext cx="11612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C1A0E"/>
                </a:solidFill>
              </a:rPr>
              <a:t>48.0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550408" y="1243584"/>
            <a:ext cx="10972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96128" y="1243584"/>
            <a:ext cx="10241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C1A0E"/>
                </a:solidFill>
              </a:rPr>
              <a:t>1.5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647688" y="1243584"/>
            <a:ext cx="14630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93408" y="1243584"/>
            <a:ext cx="13898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C1A0E"/>
                </a:solidFill>
              </a:rPr>
              <a:t>72.0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01168" y="1591056"/>
            <a:ext cx="2514600" cy="347472"/>
          </a:xfrm>
          <a:prstGeom prst="rect">
            <a:avLst/>
          </a:prstGeom>
          <a:solidFill>
            <a:srgbClr val="F5F0EB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46888" y="1591056"/>
            <a:ext cx="2441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2C1A0E"/>
                </a:solidFill>
              </a:rPr>
              <a:t>Mixing &amp; Blending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715768" y="1591056"/>
            <a:ext cx="457200" cy="347472"/>
          </a:xfrm>
          <a:prstGeom prst="rect">
            <a:avLst/>
          </a:prstGeom>
          <a:solidFill>
            <a:srgbClr val="F5F0EB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61488" y="1591056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2C1A0E"/>
                </a:solidFill>
              </a:rPr>
              <a:t>2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172968" y="1591056"/>
            <a:ext cx="1143000" cy="347472"/>
          </a:xfrm>
          <a:prstGeom prst="rect">
            <a:avLst/>
          </a:prstGeom>
          <a:solidFill>
            <a:srgbClr val="F5F0EB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18688" y="1591056"/>
            <a:ext cx="10698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2C1A0E"/>
                </a:solidFill>
              </a:rPr>
              <a:t>5.0 ×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315968" y="1591056"/>
            <a:ext cx="1234440" cy="347472"/>
          </a:xfrm>
          <a:prstGeom prst="rect">
            <a:avLst/>
          </a:prstGeom>
          <a:solidFill>
            <a:srgbClr val="F5F0EB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361688" y="1591056"/>
            <a:ext cx="11612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C1A0E"/>
                </a:solidFill>
              </a:rPr>
              <a:t>20.0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550408" y="1591056"/>
            <a:ext cx="1097280" cy="347472"/>
          </a:xfrm>
          <a:prstGeom prst="rect">
            <a:avLst/>
          </a:prstGeom>
          <a:solidFill>
            <a:srgbClr val="F5F0EB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596128" y="1591056"/>
            <a:ext cx="10241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C1A0E"/>
                </a:solidFill>
              </a:rPr>
              <a:t>2.0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647688" y="1591056"/>
            <a:ext cx="1463040" cy="347472"/>
          </a:xfrm>
          <a:prstGeom prst="rect">
            <a:avLst/>
          </a:prstGeom>
          <a:solidFill>
            <a:srgbClr val="F5F0EB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693408" y="1591056"/>
            <a:ext cx="13898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C1A0E"/>
                </a:solidFill>
              </a:rPr>
              <a:t>80.0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201168" y="1938528"/>
            <a:ext cx="25146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46888" y="1938528"/>
            <a:ext cx="2441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2C1A0E"/>
                </a:solidFill>
              </a:rPr>
              <a:t>Conching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2715768" y="1938528"/>
            <a:ext cx="4572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761488" y="1938528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2C1A0E"/>
                </a:solidFill>
              </a:rPr>
              <a:t>3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3172968" y="1938528"/>
            <a:ext cx="11430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218688" y="1938528"/>
            <a:ext cx="10698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2C1A0E"/>
                </a:solidFill>
              </a:rPr>
              <a:t>6.0 × 4.0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4315968" y="1938528"/>
            <a:ext cx="12344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361688" y="1938528"/>
            <a:ext cx="11612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C1A0E"/>
                </a:solidFill>
              </a:rPr>
              <a:t>24.0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5550408" y="1938528"/>
            <a:ext cx="10972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596128" y="1938528"/>
            <a:ext cx="10241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C1A0E"/>
                </a:solidFill>
              </a:rPr>
              <a:t>2.0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6647688" y="1938528"/>
            <a:ext cx="14630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693408" y="1938528"/>
            <a:ext cx="13898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C1A0E"/>
                </a:solidFill>
              </a:rPr>
              <a:t>144.0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201168" y="2286000"/>
            <a:ext cx="2514600" cy="347472"/>
          </a:xfrm>
          <a:prstGeom prst="rect">
            <a:avLst/>
          </a:prstGeom>
          <a:solidFill>
            <a:srgbClr val="F5F0EB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46888" y="2286000"/>
            <a:ext cx="2441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2C1A0E"/>
                </a:solidFill>
              </a:rPr>
              <a:t>Tempering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2715768" y="2286000"/>
            <a:ext cx="457200" cy="347472"/>
          </a:xfrm>
          <a:prstGeom prst="rect">
            <a:avLst/>
          </a:prstGeom>
          <a:solidFill>
            <a:srgbClr val="F5F0EB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761488" y="2286000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2C1A0E"/>
                </a:solidFill>
              </a:rPr>
              <a:t>2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3172968" y="2286000"/>
            <a:ext cx="1143000" cy="347472"/>
          </a:xfrm>
          <a:prstGeom prst="rect">
            <a:avLst/>
          </a:prstGeom>
          <a:solidFill>
            <a:srgbClr val="F5F0EB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218688" y="2286000"/>
            <a:ext cx="10698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2C1A0E"/>
                </a:solidFill>
              </a:rPr>
              <a:t>5.0 × 3.0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4315968" y="2286000"/>
            <a:ext cx="1234440" cy="347472"/>
          </a:xfrm>
          <a:prstGeom prst="rect">
            <a:avLst/>
          </a:prstGeom>
          <a:solidFill>
            <a:srgbClr val="F5F0EB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361688" y="2286000"/>
            <a:ext cx="11612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C1A0E"/>
                </a:solidFill>
              </a:rPr>
              <a:t>15.0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5550408" y="2286000"/>
            <a:ext cx="1097280" cy="347472"/>
          </a:xfrm>
          <a:prstGeom prst="rect">
            <a:avLst/>
          </a:prstGeom>
          <a:solidFill>
            <a:srgbClr val="F5F0EB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596128" y="2286000"/>
            <a:ext cx="10241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C1A0E"/>
                </a:solidFill>
              </a:rPr>
              <a:t>2.0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6647688" y="2286000"/>
            <a:ext cx="1463040" cy="347472"/>
          </a:xfrm>
          <a:prstGeom prst="rect">
            <a:avLst/>
          </a:prstGeom>
          <a:solidFill>
            <a:srgbClr val="F5F0EB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693408" y="2286000"/>
            <a:ext cx="13898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C1A0E"/>
                </a:solidFill>
              </a:rPr>
              <a:t>60.0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201168" y="2633472"/>
            <a:ext cx="25146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46888" y="2633472"/>
            <a:ext cx="2441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2C1A0E"/>
                </a:solidFill>
              </a:rPr>
              <a:t>Moulding / Enrobing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2715768" y="2633472"/>
            <a:ext cx="4572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761488" y="2633472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2C1A0E"/>
                </a:solidFill>
              </a:rPr>
              <a:t>2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3172968" y="2633472"/>
            <a:ext cx="11430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218688" y="2633472"/>
            <a:ext cx="10698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2C1A0E"/>
                </a:solidFill>
              </a:rPr>
              <a:t>10.0 × 3.0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4315968" y="2633472"/>
            <a:ext cx="12344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361688" y="2633472"/>
            <a:ext cx="11612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C1A0E"/>
                </a:solidFill>
              </a:rPr>
              <a:t>30.0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5550408" y="2633472"/>
            <a:ext cx="10972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596128" y="2633472"/>
            <a:ext cx="10241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C1A0E"/>
                </a:solidFill>
              </a:rPr>
              <a:t>1.5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6647688" y="2633472"/>
            <a:ext cx="14630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693408" y="2633472"/>
            <a:ext cx="13898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C1A0E"/>
                </a:solidFill>
              </a:rPr>
              <a:t>90.0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201168" y="2980944"/>
            <a:ext cx="2514600" cy="347472"/>
          </a:xfrm>
          <a:prstGeom prst="rect">
            <a:avLst/>
          </a:prstGeom>
          <a:solidFill>
            <a:srgbClr val="F5F0EB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246888" y="2980944"/>
            <a:ext cx="2441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2C1A0E"/>
                </a:solidFill>
              </a:rPr>
              <a:t>Cooling Tunnel</a:t>
            </a:r>
            <a:endParaRPr lang="en-US" sz="850" dirty="0"/>
          </a:p>
        </p:txBody>
      </p:sp>
      <p:sp>
        <p:nvSpPr>
          <p:cNvPr id="79" name="Shape 77"/>
          <p:cNvSpPr/>
          <p:nvPr/>
        </p:nvSpPr>
        <p:spPr>
          <a:xfrm>
            <a:off x="2715768" y="2980944"/>
            <a:ext cx="457200" cy="347472"/>
          </a:xfrm>
          <a:prstGeom prst="rect">
            <a:avLst/>
          </a:prstGeom>
          <a:solidFill>
            <a:srgbClr val="F5F0EB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2761488" y="2980944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2C1A0E"/>
                </a:solidFill>
              </a:rPr>
              <a:t>2</a:t>
            </a:r>
            <a:endParaRPr lang="en-US" sz="850" dirty="0"/>
          </a:p>
        </p:txBody>
      </p:sp>
      <p:sp>
        <p:nvSpPr>
          <p:cNvPr id="81" name="Shape 79"/>
          <p:cNvSpPr/>
          <p:nvPr/>
        </p:nvSpPr>
        <p:spPr>
          <a:xfrm>
            <a:off x="3172968" y="2980944"/>
            <a:ext cx="1143000" cy="347472"/>
          </a:xfrm>
          <a:prstGeom prst="rect">
            <a:avLst/>
          </a:prstGeom>
          <a:solidFill>
            <a:srgbClr val="F5F0EB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3218688" y="2980944"/>
            <a:ext cx="10698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2C1A0E"/>
                </a:solidFill>
              </a:rPr>
              <a:t>12.0 × 2.0</a:t>
            </a:r>
            <a:endParaRPr lang="en-US" sz="850" dirty="0"/>
          </a:p>
        </p:txBody>
      </p:sp>
      <p:sp>
        <p:nvSpPr>
          <p:cNvPr id="83" name="Shape 81"/>
          <p:cNvSpPr/>
          <p:nvPr/>
        </p:nvSpPr>
        <p:spPr>
          <a:xfrm>
            <a:off x="4315968" y="2980944"/>
            <a:ext cx="1234440" cy="347472"/>
          </a:xfrm>
          <a:prstGeom prst="rect">
            <a:avLst/>
          </a:prstGeom>
          <a:solidFill>
            <a:srgbClr val="F5F0EB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4361688" y="2980944"/>
            <a:ext cx="11612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C1A0E"/>
                </a:solidFill>
              </a:rPr>
              <a:t>24.0</a:t>
            </a:r>
            <a:endParaRPr lang="en-US" sz="850" dirty="0"/>
          </a:p>
        </p:txBody>
      </p:sp>
      <p:sp>
        <p:nvSpPr>
          <p:cNvPr id="85" name="Shape 83"/>
          <p:cNvSpPr/>
          <p:nvPr/>
        </p:nvSpPr>
        <p:spPr>
          <a:xfrm>
            <a:off x="5550408" y="2980944"/>
            <a:ext cx="1097280" cy="347472"/>
          </a:xfrm>
          <a:prstGeom prst="rect">
            <a:avLst/>
          </a:prstGeom>
          <a:solidFill>
            <a:srgbClr val="F5F0EB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5596128" y="2980944"/>
            <a:ext cx="10241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C1A0E"/>
                </a:solidFill>
              </a:rPr>
              <a:t>1.5</a:t>
            </a:r>
            <a:endParaRPr lang="en-US" sz="850" dirty="0"/>
          </a:p>
        </p:txBody>
      </p:sp>
      <p:sp>
        <p:nvSpPr>
          <p:cNvPr id="87" name="Shape 85"/>
          <p:cNvSpPr/>
          <p:nvPr/>
        </p:nvSpPr>
        <p:spPr>
          <a:xfrm>
            <a:off x="6647688" y="2980944"/>
            <a:ext cx="1463040" cy="347472"/>
          </a:xfrm>
          <a:prstGeom prst="rect">
            <a:avLst/>
          </a:prstGeom>
          <a:solidFill>
            <a:srgbClr val="F5F0EB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6693408" y="2980944"/>
            <a:ext cx="13898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C1A0E"/>
                </a:solidFill>
              </a:rPr>
              <a:t>72.0</a:t>
            </a:r>
            <a:endParaRPr lang="en-US" sz="850" dirty="0"/>
          </a:p>
        </p:txBody>
      </p:sp>
      <p:sp>
        <p:nvSpPr>
          <p:cNvPr id="89" name="Shape 87"/>
          <p:cNvSpPr/>
          <p:nvPr/>
        </p:nvSpPr>
        <p:spPr>
          <a:xfrm>
            <a:off x="201168" y="3328416"/>
            <a:ext cx="25146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246888" y="3328416"/>
            <a:ext cx="2441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2C1A0E"/>
                </a:solidFill>
              </a:rPr>
              <a:t>Packaging Assembly</a:t>
            </a:r>
            <a:endParaRPr lang="en-US" sz="850" dirty="0"/>
          </a:p>
        </p:txBody>
      </p:sp>
      <p:sp>
        <p:nvSpPr>
          <p:cNvPr id="91" name="Shape 89"/>
          <p:cNvSpPr/>
          <p:nvPr/>
        </p:nvSpPr>
        <p:spPr>
          <a:xfrm>
            <a:off x="2715768" y="3328416"/>
            <a:ext cx="4572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2761488" y="3328416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2C1A0E"/>
                </a:solidFill>
              </a:rPr>
              <a:t>3</a:t>
            </a:r>
            <a:endParaRPr lang="en-US" sz="850" dirty="0"/>
          </a:p>
        </p:txBody>
      </p:sp>
      <p:sp>
        <p:nvSpPr>
          <p:cNvPr id="93" name="Shape 91"/>
          <p:cNvSpPr/>
          <p:nvPr/>
        </p:nvSpPr>
        <p:spPr>
          <a:xfrm>
            <a:off x="3172968" y="3328416"/>
            <a:ext cx="11430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3218688" y="3328416"/>
            <a:ext cx="10698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2C1A0E"/>
                </a:solidFill>
              </a:rPr>
              <a:t>5.0 × 3.0</a:t>
            </a:r>
            <a:endParaRPr lang="en-US" sz="850" dirty="0"/>
          </a:p>
        </p:txBody>
      </p:sp>
      <p:sp>
        <p:nvSpPr>
          <p:cNvPr id="95" name="Shape 93"/>
          <p:cNvSpPr/>
          <p:nvPr/>
        </p:nvSpPr>
        <p:spPr>
          <a:xfrm>
            <a:off x="4315968" y="3328416"/>
            <a:ext cx="12344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4361688" y="3328416"/>
            <a:ext cx="11612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C1A0E"/>
                </a:solidFill>
              </a:rPr>
              <a:t>15.0</a:t>
            </a:r>
            <a:endParaRPr lang="en-US" sz="850" dirty="0"/>
          </a:p>
        </p:txBody>
      </p:sp>
      <p:sp>
        <p:nvSpPr>
          <p:cNvPr id="97" name="Shape 95"/>
          <p:cNvSpPr/>
          <p:nvPr/>
        </p:nvSpPr>
        <p:spPr>
          <a:xfrm>
            <a:off x="5550408" y="3328416"/>
            <a:ext cx="10972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5596128" y="3328416"/>
            <a:ext cx="10241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C1A0E"/>
                </a:solidFill>
              </a:rPr>
              <a:t>2.0</a:t>
            </a:r>
            <a:endParaRPr lang="en-US" sz="850" dirty="0"/>
          </a:p>
        </p:txBody>
      </p:sp>
      <p:sp>
        <p:nvSpPr>
          <p:cNvPr id="99" name="Shape 97"/>
          <p:cNvSpPr/>
          <p:nvPr/>
        </p:nvSpPr>
        <p:spPr>
          <a:xfrm>
            <a:off x="6647688" y="3328416"/>
            <a:ext cx="14630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6693408" y="3328416"/>
            <a:ext cx="13898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C1A0E"/>
                </a:solidFill>
              </a:rPr>
              <a:t>90.0</a:t>
            </a:r>
            <a:endParaRPr lang="en-US" sz="850" dirty="0"/>
          </a:p>
        </p:txBody>
      </p:sp>
      <p:sp>
        <p:nvSpPr>
          <p:cNvPr id="101" name="Shape 99"/>
          <p:cNvSpPr/>
          <p:nvPr/>
        </p:nvSpPr>
        <p:spPr>
          <a:xfrm>
            <a:off x="201168" y="3675888"/>
            <a:ext cx="2514600" cy="347472"/>
          </a:xfrm>
          <a:prstGeom prst="rect">
            <a:avLst/>
          </a:prstGeom>
          <a:solidFill>
            <a:srgbClr val="F5F0EB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246888" y="3675888"/>
            <a:ext cx="2441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2C1A0E"/>
                </a:solidFill>
              </a:rPr>
              <a:t>QC Laboratory</a:t>
            </a:r>
            <a:endParaRPr lang="en-US" sz="850" dirty="0"/>
          </a:p>
        </p:txBody>
      </p:sp>
      <p:sp>
        <p:nvSpPr>
          <p:cNvPr id="103" name="Shape 101"/>
          <p:cNvSpPr/>
          <p:nvPr/>
        </p:nvSpPr>
        <p:spPr>
          <a:xfrm>
            <a:off x="2715768" y="3675888"/>
            <a:ext cx="457200" cy="347472"/>
          </a:xfrm>
          <a:prstGeom prst="rect">
            <a:avLst/>
          </a:prstGeom>
          <a:solidFill>
            <a:srgbClr val="F5F0EB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2761488" y="3675888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2C1A0E"/>
                </a:solidFill>
              </a:rPr>
              <a:t>1</a:t>
            </a:r>
            <a:endParaRPr lang="en-US" sz="850" dirty="0"/>
          </a:p>
        </p:txBody>
      </p:sp>
      <p:sp>
        <p:nvSpPr>
          <p:cNvPr id="105" name="Shape 103"/>
          <p:cNvSpPr/>
          <p:nvPr/>
        </p:nvSpPr>
        <p:spPr>
          <a:xfrm>
            <a:off x="3172968" y="3675888"/>
            <a:ext cx="1143000" cy="347472"/>
          </a:xfrm>
          <a:prstGeom prst="rect">
            <a:avLst/>
          </a:prstGeom>
          <a:solidFill>
            <a:srgbClr val="F5F0EB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3218688" y="3675888"/>
            <a:ext cx="10698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2C1A0E"/>
                </a:solidFill>
              </a:rPr>
              <a:t>6.0 × 4.0</a:t>
            </a:r>
            <a:endParaRPr lang="en-US" sz="850" dirty="0"/>
          </a:p>
        </p:txBody>
      </p:sp>
      <p:sp>
        <p:nvSpPr>
          <p:cNvPr id="107" name="Shape 105"/>
          <p:cNvSpPr/>
          <p:nvPr/>
        </p:nvSpPr>
        <p:spPr>
          <a:xfrm>
            <a:off x="4315968" y="3675888"/>
            <a:ext cx="1234440" cy="347472"/>
          </a:xfrm>
          <a:prstGeom prst="rect">
            <a:avLst/>
          </a:prstGeom>
          <a:solidFill>
            <a:srgbClr val="F5F0EB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4361688" y="3675888"/>
            <a:ext cx="11612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C1A0E"/>
                </a:solidFill>
              </a:rPr>
              <a:t>24.0</a:t>
            </a:r>
            <a:endParaRPr lang="en-US" sz="850" dirty="0"/>
          </a:p>
        </p:txBody>
      </p:sp>
      <p:sp>
        <p:nvSpPr>
          <p:cNvPr id="109" name="Shape 107"/>
          <p:cNvSpPr/>
          <p:nvPr/>
        </p:nvSpPr>
        <p:spPr>
          <a:xfrm>
            <a:off x="5550408" y="3675888"/>
            <a:ext cx="1097280" cy="347472"/>
          </a:xfrm>
          <a:prstGeom prst="rect">
            <a:avLst/>
          </a:prstGeom>
          <a:solidFill>
            <a:srgbClr val="F5F0EB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5596128" y="3675888"/>
            <a:ext cx="10241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C1A0E"/>
                </a:solidFill>
              </a:rPr>
              <a:t>1.0</a:t>
            </a:r>
            <a:endParaRPr lang="en-US" sz="850" dirty="0"/>
          </a:p>
        </p:txBody>
      </p:sp>
      <p:sp>
        <p:nvSpPr>
          <p:cNvPr id="111" name="Shape 109"/>
          <p:cNvSpPr/>
          <p:nvPr/>
        </p:nvSpPr>
        <p:spPr>
          <a:xfrm>
            <a:off x="6647688" y="3675888"/>
            <a:ext cx="1463040" cy="347472"/>
          </a:xfrm>
          <a:prstGeom prst="rect">
            <a:avLst/>
          </a:prstGeom>
          <a:solidFill>
            <a:srgbClr val="F5F0EB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6693408" y="3675888"/>
            <a:ext cx="13898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C1A0E"/>
                </a:solidFill>
              </a:rPr>
              <a:t>24.0</a:t>
            </a:r>
            <a:endParaRPr lang="en-US" sz="850" dirty="0"/>
          </a:p>
        </p:txBody>
      </p:sp>
      <p:sp>
        <p:nvSpPr>
          <p:cNvPr id="113" name="Shape 111"/>
          <p:cNvSpPr/>
          <p:nvPr/>
        </p:nvSpPr>
        <p:spPr>
          <a:xfrm>
            <a:off x="201168" y="4023360"/>
            <a:ext cx="25146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246888" y="4023360"/>
            <a:ext cx="2441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2C1A0E"/>
                </a:solidFill>
              </a:rPr>
              <a:t>Finished Goods Warehouse</a:t>
            </a:r>
            <a:endParaRPr lang="en-US" sz="850" dirty="0"/>
          </a:p>
        </p:txBody>
      </p:sp>
      <p:sp>
        <p:nvSpPr>
          <p:cNvPr id="115" name="Shape 113"/>
          <p:cNvSpPr/>
          <p:nvPr/>
        </p:nvSpPr>
        <p:spPr>
          <a:xfrm>
            <a:off x="2715768" y="4023360"/>
            <a:ext cx="4572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2761488" y="4023360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2C1A0E"/>
                </a:solidFill>
              </a:rPr>
              <a:t>1</a:t>
            </a:r>
            <a:endParaRPr lang="en-US" sz="850" dirty="0"/>
          </a:p>
        </p:txBody>
      </p:sp>
      <p:sp>
        <p:nvSpPr>
          <p:cNvPr id="117" name="Shape 115"/>
          <p:cNvSpPr/>
          <p:nvPr/>
        </p:nvSpPr>
        <p:spPr>
          <a:xfrm>
            <a:off x="3172968" y="4023360"/>
            <a:ext cx="11430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3218688" y="4023360"/>
            <a:ext cx="10698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2C1A0E"/>
                </a:solidFill>
              </a:rPr>
              <a:t>12.0 × 8.0</a:t>
            </a:r>
            <a:endParaRPr lang="en-US" sz="850" dirty="0"/>
          </a:p>
        </p:txBody>
      </p:sp>
      <p:sp>
        <p:nvSpPr>
          <p:cNvPr id="119" name="Shape 117"/>
          <p:cNvSpPr/>
          <p:nvPr/>
        </p:nvSpPr>
        <p:spPr>
          <a:xfrm>
            <a:off x="4315968" y="4023360"/>
            <a:ext cx="12344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4361688" y="4023360"/>
            <a:ext cx="11612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C1A0E"/>
                </a:solidFill>
              </a:rPr>
              <a:t>96.0</a:t>
            </a:r>
            <a:endParaRPr lang="en-US" sz="850" dirty="0"/>
          </a:p>
        </p:txBody>
      </p:sp>
      <p:sp>
        <p:nvSpPr>
          <p:cNvPr id="121" name="Shape 119"/>
          <p:cNvSpPr/>
          <p:nvPr/>
        </p:nvSpPr>
        <p:spPr>
          <a:xfrm>
            <a:off x="5550408" y="4023360"/>
            <a:ext cx="10972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5596128" y="4023360"/>
            <a:ext cx="10241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C1A0E"/>
                </a:solidFill>
              </a:rPr>
              <a:t>1.2</a:t>
            </a:r>
            <a:endParaRPr lang="en-US" sz="850" dirty="0"/>
          </a:p>
        </p:txBody>
      </p:sp>
      <p:sp>
        <p:nvSpPr>
          <p:cNvPr id="123" name="Shape 121"/>
          <p:cNvSpPr/>
          <p:nvPr/>
        </p:nvSpPr>
        <p:spPr>
          <a:xfrm>
            <a:off x="6647688" y="4023360"/>
            <a:ext cx="14630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6693408" y="4023360"/>
            <a:ext cx="13898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C1A0E"/>
                </a:solidFill>
              </a:rPr>
              <a:t>115.2</a:t>
            </a:r>
            <a:endParaRPr lang="en-US" sz="850" dirty="0"/>
          </a:p>
        </p:txBody>
      </p:sp>
      <p:sp>
        <p:nvSpPr>
          <p:cNvPr id="125" name="Shape 123"/>
          <p:cNvSpPr/>
          <p:nvPr/>
        </p:nvSpPr>
        <p:spPr>
          <a:xfrm>
            <a:off x="201168" y="4370832"/>
            <a:ext cx="2514600" cy="347472"/>
          </a:xfrm>
          <a:prstGeom prst="rect">
            <a:avLst/>
          </a:prstGeom>
          <a:solidFill>
            <a:srgbClr val="F5F0EB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246888" y="4370832"/>
            <a:ext cx="2441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2C1A0E"/>
                </a:solidFill>
              </a:rPr>
              <a:t>Utilities / Boiler Room</a:t>
            </a:r>
            <a:endParaRPr lang="en-US" sz="850" dirty="0"/>
          </a:p>
        </p:txBody>
      </p:sp>
      <p:sp>
        <p:nvSpPr>
          <p:cNvPr id="127" name="Shape 125"/>
          <p:cNvSpPr/>
          <p:nvPr/>
        </p:nvSpPr>
        <p:spPr>
          <a:xfrm>
            <a:off x="2715768" y="4370832"/>
            <a:ext cx="457200" cy="347472"/>
          </a:xfrm>
          <a:prstGeom prst="rect">
            <a:avLst/>
          </a:prstGeom>
          <a:solidFill>
            <a:srgbClr val="F5F0EB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2761488" y="4370832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2C1A0E"/>
                </a:solidFill>
              </a:rPr>
              <a:t>1</a:t>
            </a:r>
            <a:endParaRPr lang="en-US" sz="850" dirty="0"/>
          </a:p>
        </p:txBody>
      </p:sp>
      <p:sp>
        <p:nvSpPr>
          <p:cNvPr id="129" name="Shape 127"/>
          <p:cNvSpPr/>
          <p:nvPr/>
        </p:nvSpPr>
        <p:spPr>
          <a:xfrm>
            <a:off x="3172968" y="4370832"/>
            <a:ext cx="1143000" cy="347472"/>
          </a:xfrm>
          <a:prstGeom prst="rect">
            <a:avLst/>
          </a:prstGeom>
          <a:solidFill>
            <a:srgbClr val="F5F0EB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3218688" y="4370832"/>
            <a:ext cx="10698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2C1A0E"/>
                </a:solidFill>
              </a:rPr>
              <a:t>6.0 × 4.0</a:t>
            </a:r>
            <a:endParaRPr lang="en-US" sz="850" dirty="0"/>
          </a:p>
        </p:txBody>
      </p:sp>
      <p:sp>
        <p:nvSpPr>
          <p:cNvPr id="131" name="Shape 129"/>
          <p:cNvSpPr/>
          <p:nvPr/>
        </p:nvSpPr>
        <p:spPr>
          <a:xfrm>
            <a:off x="4315968" y="4370832"/>
            <a:ext cx="1234440" cy="347472"/>
          </a:xfrm>
          <a:prstGeom prst="rect">
            <a:avLst/>
          </a:prstGeom>
          <a:solidFill>
            <a:srgbClr val="F5F0EB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4361688" y="4370832"/>
            <a:ext cx="11612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C1A0E"/>
                </a:solidFill>
              </a:rPr>
              <a:t>24.0</a:t>
            </a:r>
            <a:endParaRPr lang="en-US" sz="850" dirty="0"/>
          </a:p>
        </p:txBody>
      </p:sp>
      <p:sp>
        <p:nvSpPr>
          <p:cNvPr id="133" name="Shape 131"/>
          <p:cNvSpPr/>
          <p:nvPr/>
        </p:nvSpPr>
        <p:spPr>
          <a:xfrm>
            <a:off x="5550408" y="4370832"/>
            <a:ext cx="1097280" cy="347472"/>
          </a:xfrm>
          <a:prstGeom prst="rect">
            <a:avLst/>
          </a:prstGeom>
          <a:solidFill>
            <a:srgbClr val="F5F0EB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5596128" y="4370832"/>
            <a:ext cx="10241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C1A0E"/>
                </a:solidFill>
              </a:rPr>
              <a:t>1.0</a:t>
            </a:r>
            <a:endParaRPr lang="en-US" sz="850" dirty="0"/>
          </a:p>
        </p:txBody>
      </p:sp>
      <p:sp>
        <p:nvSpPr>
          <p:cNvPr id="135" name="Shape 133"/>
          <p:cNvSpPr/>
          <p:nvPr/>
        </p:nvSpPr>
        <p:spPr>
          <a:xfrm>
            <a:off x="6647688" y="4370832"/>
            <a:ext cx="1463040" cy="347472"/>
          </a:xfrm>
          <a:prstGeom prst="rect">
            <a:avLst/>
          </a:prstGeom>
          <a:solidFill>
            <a:srgbClr val="F5F0EB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6693408" y="4370832"/>
            <a:ext cx="13898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C1A0E"/>
                </a:solidFill>
              </a:rPr>
              <a:t>24.0</a:t>
            </a:r>
            <a:endParaRPr lang="en-US" sz="850" dirty="0"/>
          </a:p>
        </p:txBody>
      </p:sp>
      <p:sp>
        <p:nvSpPr>
          <p:cNvPr id="137" name="Shape 135"/>
          <p:cNvSpPr/>
          <p:nvPr/>
        </p:nvSpPr>
        <p:spPr>
          <a:xfrm>
            <a:off x="201168" y="4718304"/>
            <a:ext cx="2514600" cy="347472"/>
          </a:xfrm>
          <a:prstGeom prst="rect">
            <a:avLst/>
          </a:prstGeom>
          <a:solidFill>
            <a:srgbClr val="C9952C"/>
          </a:solidFill>
          <a:ln w="12700">
            <a:solidFill>
              <a:srgbClr val="C9952C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246888" y="4718304"/>
            <a:ext cx="2441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</a:rPr>
              <a:t>TOTAL</a:t>
            </a:r>
            <a:endParaRPr lang="en-US" sz="950" dirty="0"/>
          </a:p>
        </p:txBody>
      </p:sp>
      <p:sp>
        <p:nvSpPr>
          <p:cNvPr id="139" name="Shape 137"/>
          <p:cNvSpPr/>
          <p:nvPr/>
        </p:nvSpPr>
        <p:spPr>
          <a:xfrm>
            <a:off x="2715768" y="4718304"/>
            <a:ext cx="457200" cy="347472"/>
          </a:xfrm>
          <a:prstGeom prst="rect">
            <a:avLst/>
          </a:prstGeom>
          <a:solidFill>
            <a:srgbClr val="C9952C"/>
          </a:solidFill>
          <a:ln w="12700">
            <a:solidFill>
              <a:srgbClr val="C9952C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2761488" y="4718304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950" dirty="0"/>
          </a:p>
        </p:txBody>
      </p:sp>
      <p:sp>
        <p:nvSpPr>
          <p:cNvPr id="141" name="Shape 139"/>
          <p:cNvSpPr/>
          <p:nvPr/>
        </p:nvSpPr>
        <p:spPr>
          <a:xfrm>
            <a:off x="3172968" y="4718304"/>
            <a:ext cx="1143000" cy="347472"/>
          </a:xfrm>
          <a:prstGeom prst="rect">
            <a:avLst/>
          </a:prstGeom>
          <a:solidFill>
            <a:srgbClr val="C9952C"/>
          </a:solidFill>
          <a:ln w="12700">
            <a:solidFill>
              <a:srgbClr val="C9952C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3218688" y="4718304"/>
            <a:ext cx="10698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950" dirty="0"/>
          </a:p>
        </p:txBody>
      </p:sp>
      <p:sp>
        <p:nvSpPr>
          <p:cNvPr id="143" name="Shape 141"/>
          <p:cNvSpPr/>
          <p:nvPr/>
        </p:nvSpPr>
        <p:spPr>
          <a:xfrm>
            <a:off x="4315968" y="4718304"/>
            <a:ext cx="1234440" cy="347472"/>
          </a:xfrm>
          <a:prstGeom prst="rect">
            <a:avLst/>
          </a:prstGeom>
          <a:solidFill>
            <a:srgbClr val="C9952C"/>
          </a:solidFill>
          <a:ln w="12700">
            <a:solidFill>
              <a:srgbClr val="C9952C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4361688" y="4718304"/>
            <a:ext cx="11612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950" dirty="0"/>
          </a:p>
        </p:txBody>
      </p:sp>
      <p:sp>
        <p:nvSpPr>
          <p:cNvPr id="145" name="Shape 143"/>
          <p:cNvSpPr/>
          <p:nvPr/>
        </p:nvSpPr>
        <p:spPr>
          <a:xfrm>
            <a:off x="5550408" y="4718304"/>
            <a:ext cx="1097280" cy="347472"/>
          </a:xfrm>
          <a:prstGeom prst="rect">
            <a:avLst/>
          </a:prstGeom>
          <a:solidFill>
            <a:srgbClr val="C9952C"/>
          </a:solidFill>
          <a:ln w="12700">
            <a:solidFill>
              <a:srgbClr val="C9952C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5596128" y="4718304"/>
            <a:ext cx="10241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950" dirty="0"/>
          </a:p>
        </p:txBody>
      </p:sp>
      <p:sp>
        <p:nvSpPr>
          <p:cNvPr id="147" name="Shape 145"/>
          <p:cNvSpPr/>
          <p:nvPr/>
        </p:nvSpPr>
        <p:spPr>
          <a:xfrm>
            <a:off x="6647688" y="4718304"/>
            <a:ext cx="1463040" cy="347472"/>
          </a:xfrm>
          <a:prstGeom prst="rect">
            <a:avLst/>
          </a:prstGeom>
          <a:solidFill>
            <a:srgbClr val="C9952C"/>
          </a:solidFill>
          <a:ln w="12700">
            <a:solidFill>
              <a:srgbClr val="C9952C"/>
            </a:solidFill>
            <a:prstDash val="solid"/>
          </a:ln>
        </p:spPr>
      </p:sp>
      <p:sp>
        <p:nvSpPr>
          <p:cNvPr id="148" name="Text 146"/>
          <p:cNvSpPr/>
          <p:nvPr/>
        </p:nvSpPr>
        <p:spPr>
          <a:xfrm>
            <a:off x="6693408" y="4718304"/>
            <a:ext cx="13898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771.2 m²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6B3A2A"/>
          </a:solidFill>
          <a:ln w="12700">
            <a:solidFill>
              <a:srgbClr val="6B3A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C9952C"/>
          </a:solidFill>
          <a:ln w="12700">
            <a:solidFill>
              <a:srgbClr val="C9952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73152"/>
            <a:ext cx="8686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12. FABRICATION DEPARTMENT — Final Layout (U-Shape)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201168" y="841248"/>
            <a:ext cx="8732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B3A2A"/>
                </a:solidFill>
              </a:rPr>
              <a:t>Chosen layout: U-Shape (Alt. B). Scale: approx. 1 cm = 3 m. Total building: 30 m × 28 m ≈ 840 m².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201168" y="1097280"/>
            <a:ext cx="1508760" cy="1600200"/>
          </a:xfrm>
          <a:prstGeom prst="rect">
            <a:avLst/>
          </a:prstGeom>
          <a:solidFill>
            <a:srgbClr val="5C3317">
              <a:alpha val="9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46888" y="1133856"/>
            <a:ext cx="1417320" cy="1380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RECEIVING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&amp; INSPECTION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237744" y="2496312"/>
            <a:ext cx="14538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E0B0"/>
                </a:solidFill>
              </a:rPr>
              <a:t>72 m²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1828800" y="1097280"/>
            <a:ext cx="1417320" cy="1097280"/>
          </a:xfrm>
          <a:prstGeom prst="rect">
            <a:avLst/>
          </a:prstGeom>
          <a:solidFill>
            <a:srgbClr val="6B3A2A">
              <a:alpha val="9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74520" y="1133856"/>
            <a:ext cx="132588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MIXING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&amp; BLENDING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865376" y="1993392"/>
            <a:ext cx="13624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E0B0"/>
                </a:solidFill>
              </a:rPr>
              <a:t>80 m²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3310128" y="1097280"/>
            <a:ext cx="1508760" cy="1097280"/>
          </a:xfrm>
          <a:prstGeom prst="rect">
            <a:avLst/>
          </a:prstGeom>
          <a:solidFill>
            <a:srgbClr val="7B4A2A">
              <a:alpha val="9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55848" y="1133856"/>
            <a:ext cx="141732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CONCHING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3346704" y="1993392"/>
            <a:ext cx="14538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E0B0"/>
                </a:solidFill>
              </a:rPr>
              <a:t>144 m²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4892040" y="1097280"/>
            <a:ext cx="1371600" cy="1097280"/>
          </a:xfrm>
          <a:prstGeom prst="rect">
            <a:avLst/>
          </a:prstGeom>
          <a:solidFill>
            <a:srgbClr val="8B5A3A">
              <a:alpha val="9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0" y="1133856"/>
            <a:ext cx="128016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TEMPERING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4928616" y="1993392"/>
            <a:ext cx="13167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E0B0"/>
                </a:solidFill>
              </a:rPr>
              <a:t>60 m²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6327648" y="1097280"/>
            <a:ext cx="1325880" cy="1097280"/>
          </a:xfrm>
          <a:prstGeom prst="rect">
            <a:avLst/>
          </a:prstGeom>
          <a:solidFill>
            <a:srgbClr val="9B6A4A">
              <a:alpha val="9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73368" y="1133856"/>
            <a:ext cx="123444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MOULDING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&amp; ENROBING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6364224" y="1993392"/>
            <a:ext cx="12710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E0B0"/>
                </a:solidFill>
              </a:rPr>
              <a:t>90 m²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7708392" y="1097280"/>
            <a:ext cx="1234440" cy="3108960"/>
          </a:xfrm>
          <a:prstGeom prst="rect">
            <a:avLst/>
          </a:prstGeom>
          <a:solidFill>
            <a:srgbClr val="AB7A5A">
              <a:alpha val="9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54112" y="1133856"/>
            <a:ext cx="1143000" cy="2889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COOLING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TUNNEL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7744968" y="4005072"/>
            <a:ext cx="117957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E0B0"/>
                </a:solidFill>
              </a:rPr>
              <a:t>72 m²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5486400" y="2267712"/>
            <a:ext cx="2148840" cy="1325880"/>
          </a:xfrm>
          <a:prstGeom prst="rect">
            <a:avLst/>
          </a:prstGeom>
          <a:solidFill>
            <a:srgbClr val="8B5A3A">
              <a:alpha val="9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32120" y="2304288"/>
            <a:ext cx="2057400" cy="11064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PACKAGING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ASSEMBLY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5522976" y="3392424"/>
            <a:ext cx="209397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E0B0"/>
                </a:solidFill>
              </a:rPr>
              <a:t>90 m²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4023360" y="2267712"/>
            <a:ext cx="1389888" cy="1325880"/>
          </a:xfrm>
          <a:prstGeom prst="rect">
            <a:avLst/>
          </a:prstGeom>
          <a:solidFill>
            <a:srgbClr val="7B4A2A">
              <a:alpha val="9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069080" y="2304288"/>
            <a:ext cx="1298448" cy="11064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QC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LAB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4059936" y="3392424"/>
            <a:ext cx="13350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E0B0"/>
                </a:solidFill>
              </a:rPr>
              <a:t>24 m²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1828800" y="2267712"/>
            <a:ext cx="2103120" cy="1325880"/>
          </a:xfrm>
          <a:prstGeom prst="rect">
            <a:avLst/>
          </a:prstGeom>
          <a:solidFill>
            <a:srgbClr val="6B3A2A">
              <a:alpha val="9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874520" y="2304288"/>
            <a:ext cx="2011680" cy="11064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UTILITIES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&amp; SERVICES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1865376" y="3392424"/>
            <a:ext cx="20482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E0B0"/>
                </a:solidFill>
              </a:rPr>
              <a:t>24 m²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201168" y="2267712"/>
            <a:ext cx="1554480" cy="2596896"/>
          </a:xfrm>
          <a:prstGeom prst="rect">
            <a:avLst/>
          </a:prstGeom>
          <a:solidFill>
            <a:srgbClr val="5C3317">
              <a:alpha val="9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46888" y="2304288"/>
            <a:ext cx="14630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FINISHED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GOODS STORE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237744" y="4663440"/>
            <a:ext cx="14996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E0B0"/>
                </a:solidFill>
              </a:rPr>
              <a:t>115 m²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1828800" y="3657600"/>
            <a:ext cx="5806440" cy="1207008"/>
          </a:xfrm>
          <a:prstGeom prst="rect">
            <a:avLst/>
          </a:prstGeom>
          <a:solidFill>
            <a:srgbClr val="C9952C">
              <a:alpha val="9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874520" y="3694176"/>
            <a:ext cx="571500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DISPATCH BAY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1728216" y="1645920"/>
            <a:ext cx="109728" cy="0"/>
          </a:xfrm>
          <a:prstGeom prst="line">
            <a:avLst/>
          </a:prstGeom>
          <a:noFill/>
          <a:ln w="12700">
            <a:solidFill>
              <a:srgbClr val="C9952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264408" y="1645920"/>
            <a:ext cx="109728" cy="0"/>
          </a:xfrm>
          <a:prstGeom prst="line">
            <a:avLst/>
          </a:prstGeom>
          <a:noFill/>
          <a:ln w="12700">
            <a:solidFill>
              <a:srgbClr val="C9952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837176" y="1645920"/>
            <a:ext cx="109728" cy="0"/>
          </a:xfrm>
          <a:prstGeom prst="line">
            <a:avLst/>
          </a:prstGeom>
          <a:noFill/>
          <a:ln w="12700">
            <a:solidFill>
              <a:srgbClr val="C9952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281928" y="1645920"/>
            <a:ext cx="109728" cy="0"/>
          </a:xfrm>
          <a:prstGeom prst="line">
            <a:avLst/>
          </a:prstGeom>
          <a:noFill/>
          <a:ln w="12700">
            <a:solidFill>
              <a:srgbClr val="C9952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01168" y="4919472"/>
            <a:ext cx="8732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B1A08"/>
                </a:solidFill>
              </a:rPr>
              <a:t>→ Top arm (Production)   ↓ Right (Cooling)   ← Bottom arm (Packaging → Dispatch)   ↑ Left (Storage)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DF3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3B1A08"/>
          </a:solidFill>
          <a:ln w="12700">
            <a:solidFill>
              <a:srgbClr val="3B1A0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C9952C"/>
          </a:solidFill>
          <a:ln w="12700">
            <a:solidFill>
              <a:srgbClr val="C9952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73152"/>
            <a:ext cx="8686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13. LINE BALANCING — Moulding / Enrobing Area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201168" y="877824"/>
            <a:ext cx="21031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9A87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92608" y="905256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3A2A"/>
                </a:solidFill>
              </a:rPr>
              <a:t>Demand Rate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92608" y="1152144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B1A08"/>
                </a:solidFill>
              </a:rPr>
              <a:t>5,000 kg/day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414016" y="877824"/>
            <a:ext cx="21031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9A87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05456" y="905256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3A2A"/>
                </a:solidFill>
              </a:rPr>
              <a:t>Working Time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505456" y="1152144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B1A08"/>
                </a:solidFill>
              </a:rPr>
              <a:t>480 min/day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26864" y="877824"/>
            <a:ext cx="21031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9A87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18304" y="905256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3A2A"/>
                </a:solidFill>
              </a:rPr>
              <a:t>Cycle Time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718304" y="1152144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B1A08"/>
                </a:solidFill>
              </a:rPr>
              <a:t>CT = 0.096 min/kg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839712" y="877824"/>
            <a:ext cx="21031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9A87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31152" y="905256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3A2A"/>
                </a:solidFill>
              </a:rPr>
              <a:t>Theoretical 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931152" y="1152144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B1A08"/>
                </a:solidFill>
              </a:rPr>
              <a:t>N = Σti / CT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01168" y="1517904"/>
            <a:ext cx="457200" cy="329184"/>
          </a:xfrm>
          <a:prstGeom prst="rect">
            <a:avLst/>
          </a:prstGeom>
          <a:solidFill>
            <a:srgbClr val="3B1A0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37744" y="1517904"/>
            <a:ext cx="4023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Task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58368" y="1517904"/>
            <a:ext cx="3337560" cy="329184"/>
          </a:xfrm>
          <a:prstGeom prst="rect">
            <a:avLst/>
          </a:prstGeom>
          <a:solidFill>
            <a:srgbClr val="3B1A0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4944" y="1517904"/>
            <a:ext cx="32826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Description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995928" y="1517904"/>
            <a:ext cx="1600200" cy="329184"/>
          </a:xfrm>
          <a:prstGeom prst="rect">
            <a:avLst/>
          </a:prstGeom>
          <a:solidFill>
            <a:srgbClr val="3B1A0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032504" y="1517904"/>
            <a:ext cx="15453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Time (min/100kg)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596128" y="1517904"/>
            <a:ext cx="640080" cy="329184"/>
          </a:xfrm>
          <a:prstGeom prst="rect">
            <a:avLst/>
          </a:prstGeom>
          <a:solidFill>
            <a:srgbClr val="3B1A0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32704" y="1517904"/>
            <a:ext cx="58521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Pred.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36208" y="1517904"/>
            <a:ext cx="914400" cy="329184"/>
          </a:xfrm>
          <a:prstGeom prst="rect">
            <a:avLst/>
          </a:prstGeom>
          <a:solidFill>
            <a:srgbClr val="3B1A0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72784" y="1517904"/>
            <a:ext cx="8595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Station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01168" y="1847088"/>
            <a:ext cx="4572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37744" y="1847088"/>
            <a:ext cx="4023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1A0E"/>
                </a:solidFill>
              </a:rPr>
              <a:t>A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58368" y="1847088"/>
            <a:ext cx="333756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4944" y="1847088"/>
            <a:ext cx="32826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1A0E"/>
                </a:solidFill>
              </a:rPr>
              <a:t>Tempering machine feed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995928" y="1847088"/>
            <a:ext cx="16002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032504" y="1847088"/>
            <a:ext cx="15453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1A0E"/>
                </a:solidFill>
              </a:rPr>
              <a:t>12.0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5596128" y="1847088"/>
            <a:ext cx="6400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32704" y="1847088"/>
            <a:ext cx="5852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1A0E"/>
                </a:solidFill>
              </a:rPr>
              <a:t>—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236208" y="1847088"/>
            <a:ext cx="914400" cy="292608"/>
          </a:xfrm>
          <a:prstGeom prst="rect">
            <a:avLst/>
          </a:prstGeom>
          <a:solidFill>
            <a:srgbClr val="6B3A2A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72784" y="1847088"/>
            <a:ext cx="8595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WS-1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201168" y="2139696"/>
            <a:ext cx="457200" cy="292608"/>
          </a:xfrm>
          <a:prstGeom prst="rect">
            <a:avLst/>
          </a:prstGeom>
          <a:solidFill>
            <a:srgbClr val="F5F0EB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37744" y="2139696"/>
            <a:ext cx="4023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1A0E"/>
                </a:solidFill>
              </a:rPr>
              <a:t>B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58368" y="2139696"/>
            <a:ext cx="3337560" cy="292608"/>
          </a:xfrm>
          <a:prstGeom prst="rect">
            <a:avLst/>
          </a:prstGeom>
          <a:solidFill>
            <a:srgbClr val="F5F0EB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94944" y="2139696"/>
            <a:ext cx="32826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1A0E"/>
                </a:solidFill>
              </a:rPr>
              <a:t>Mould filling / depositing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995928" y="2139696"/>
            <a:ext cx="1600200" cy="292608"/>
          </a:xfrm>
          <a:prstGeom prst="rect">
            <a:avLst/>
          </a:prstGeom>
          <a:solidFill>
            <a:srgbClr val="F5F0EB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032504" y="2139696"/>
            <a:ext cx="15453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1A0E"/>
                </a:solidFill>
              </a:rPr>
              <a:t>8.5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5596128" y="2139696"/>
            <a:ext cx="640080" cy="292608"/>
          </a:xfrm>
          <a:prstGeom prst="rect">
            <a:avLst/>
          </a:prstGeom>
          <a:solidFill>
            <a:srgbClr val="F5F0EB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632704" y="2139696"/>
            <a:ext cx="5852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1A0E"/>
                </a:solidFill>
              </a:rPr>
              <a:t>A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6236208" y="2139696"/>
            <a:ext cx="914400" cy="292608"/>
          </a:xfrm>
          <a:prstGeom prst="rect">
            <a:avLst/>
          </a:prstGeom>
          <a:solidFill>
            <a:srgbClr val="6B3A2A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272784" y="2139696"/>
            <a:ext cx="8595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WS-1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201168" y="2432304"/>
            <a:ext cx="4572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37744" y="2432304"/>
            <a:ext cx="4023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1A0E"/>
                </a:solidFill>
              </a:rPr>
              <a:t>C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658368" y="2432304"/>
            <a:ext cx="333756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94944" y="2432304"/>
            <a:ext cx="32826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1A0E"/>
                </a:solidFill>
              </a:rPr>
              <a:t>Vibration (air bubble removal)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3995928" y="2432304"/>
            <a:ext cx="16002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032504" y="2432304"/>
            <a:ext cx="15453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1A0E"/>
                </a:solidFill>
              </a:rPr>
              <a:t>4.0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5596128" y="2432304"/>
            <a:ext cx="6400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632704" y="2432304"/>
            <a:ext cx="5852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1A0E"/>
                </a:solidFill>
              </a:rPr>
              <a:t>B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6236208" y="2432304"/>
            <a:ext cx="914400" cy="292608"/>
          </a:xfrm>
          <a:prstGeom prst="rect">
            <a:avLst/>
          </a:prstGeom>
          <a:solidFill>
            <a:srgbClr val="6B3A2A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272784" y="2432304"/>
            <a:ext cx="8595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WS-1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201168" y="2724912"/>
            <a:ext cx="457200" cy="292608"/>
          </a:xfrm>
          <a:prstGeom prst="rect">
            <a:avLst/>
          </a:prstGeom>
          <a:solidFill>
            <a:srgbClr val="F5F0EB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37744" y="2724912"/>
            <a:ext cx="4023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1A0E"/>
                </a:solidFill>
              </a:rPr>
              <a:t>D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658368" y="2724912"/>
            <a:ext cx="3337560" cy="292608"/>
          </a:xfrm>
          <a:prstGeom prst="rect">
            <a:avLst/>
          </a:prstGeom>
          <a:solidFill>
            <a:srgbClr val="F5F0EB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94944" y="2724912"/>
            <a:ext cx="32826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1A0E"/>
                </a:solidFill>
              </a:rPr>
              <a:t>Cooling tunnel pass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3995928" y="2724912"/>
            <a:ext cx="1600200" cy="292608"/>
          </a:xfrm>
          <a:prstGeom prst="rect">
            <a:avLst/>
          </a:prstGeom>
          <a:solidFill>
            <a:srgbClr val="F5F0EB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032504" y="2724912"/>
            <a:ext cx="15453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1A0E"/>
                </a:solidFill>
              </a:rPr>
              <a:t>15.0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5596128" y="2724912"/>
            <a:ext cx="640080" cy="292608"/>
          </a:xfrm>
          <a:prstGeom prst="rect">
            <a:avLst/>
          </a:prstGeom>
          <a:solidFill>
            <a:srgbClr val="F5F0EB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632704" y="2724912"/>
            <a:ext cx="5852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1A0E"/>
                </a:solidFill>
              </a:rPr>
              <a:t>C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6236208" y="2724912"/>
            <a:ext cx="914400" cy="292608"/>
          </a:xfrm>
          <a:prstGeom prst="rect">
            <a:avLst/>
          </a:prstGeom>
          <a:solidFill>
            <a:srgbClr val="8B3A2A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272784" y="2724912"/>
            <a:ext cx="8595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WS-2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201168" y="3017520"/>
            <a:ext cx="4572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37744" y="3017520"/>
            <a:ext cx="4023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1A0E"/>
                </a:solidFill>
              </a:rPr>
              <a:t>E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658368" y="3017520"/>
            <a:ext cx="333756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94944" y="3017520"/>
            <a:ext cx="32826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1A0E"/>
                </a:solidFill>
              </a:rPr>
              <a:t>Demoulding / extraction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3995928" y="3017520"/>
            <a:ext cx="16002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032504" y="3017520"/>
            <a:ext cx="15453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1A0E"/>
                </a:solidFill>
              </a:rPr>
              <a:t>6.0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5596128" y="3017520"/>
            <a:ext cx="6400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632704" y="3017520"/>
            <a:ext cx="5852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1A0E"/>
                </a:solidFill>
              </a:rPr>
              <a:t>D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6236208" y="3017520"/>
            <a:ext cx="914400" cy="292608"/>
          </a:xfrm>
          <a:prstGeom prst="rect">
            <a:avLst/>
          </a:prstGeom>
          <a:solidFill>
            <a:srgbClr val="8B3A2A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272784" y="3017520"/>
            <a:ext cx="8595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WS-2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201168" y="3310128"/>
            <a:ext cx="457200" cy="292608"/>
          </a:xfrm>
          <a:prstGeom prst="rect">
            <a:avLst/>
          </a:prstGeom>
          <a:solidFill>
            <a:srgbClr val="F5F0EB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237744" y="3310128"/>
            <a:ext cx="4023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1A0E"/>
                </a:solidFill>
              </a:rPr>
              <a:t>F</a:t>
            </a:r>
            <a:endParaRPr lang="en-US" sz="850" dirty="0"/>
          </a:p>
        </p:txBody>
      </p:sp>
      <p:sp>
        <p:nvSpPr>
          <p:cNvPr id="79" name="Shape 77"/>
          <p:cNvSpPr/>
          <p:nvPr/>
        </p:nvSpPr>
        <p:spPr>
          <a:xfrm>
            <a:off x="658368" y="3310128"/>
            <a:ext cx="3337560" cy="292608"/>
          </a:xfrm>
          <a:prstGeom prst="rect">
            <a:avLst/>
          </a:prstGeom>
          <a:solidFill>
            <a:srgbClr val="F5F0EB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94944" y="3310128"/>
            <a:ext cx="32826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1A0E"/>
                </a:solidFill>
              </a:rPr>
              <a:t>Enrober chocolate coating</a:t>
            </a:r>
            <a:endParaRPr lang="en-US" sz="850" dirty="0"/>
          </a:p>
        </p:txBody>
      </p:sp>
      <p:sp>
        <p:nvSpPr>
          <p:cNvPr id="81" name="Shape 79"/>
          <p:cNvSpPr/>
          <p:nvPr/>
        </p:nvSpPr>
        <p:spPr>
          <a:xfrm>
            <a:off x="3995928" y="3310128"/>
            <a:ext cx="1600200" cy="292608"/>
          </a:xfrm>
          <a:prstGeom prst="rect">
            <a:avLst/>
          </a:prstGeom>
          <a:solidFill>
            <a:srgbClr val="F5F0EB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4032504" y="3310128"/>
            <a:ext cx="15453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1A0E"/>
                </a:solidFill>
              </a:rPr>
              <a:t>9.5</a:t>
            </a:r>
            <a:endParaRPr lang="en-US" sz="850" dirty="0"/>
          </a:p>
        </p:txBody>
      </p:sp>
      <p:sp>
        <p:nvSpPr>
          <p:cNvPr id="83" name="Shape 81"/>
          <p:cNvSpPr/>
          <p:nvPr/>
        </p:nvSpPr>
        <p:spPr>
          <a:xfrm>
            <a:off x="5596128" y="3310128"/>
            <a:ext cx="640080" cy="292608"/>
          </a:xfrm>
          <a:prstGeom prst="rect">
            <a:avLst/>
          </a:prstGeom>
          <a:solidFill>
            <a:srgbClr val="F5F0EB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5632704" y="3310128"/>
            <a:ext cx="5852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1A0E"/>
                </a:solidFill>
              </a:rPr>
              <a:t>E</a:t>
            </a:r>
            <a:endParaRPr lang="en-US" sz="850" dirty="0"/>
          </a:p>
        </p:txBody>
      </p:sp>
      <p:sp>
        <p:nvSpPr>
          <p:cNvPr id="85" name="Shape 83"/>
          <p:cNvSpPr/>
          <p:nvPr/>
        </p:nvSpPr>
        <p:spPr>
          <a:xfrm>
            <a:off x="6236208" y="3310128"/>
            <a:ext cx="914400" cy="292608"/>
          </a:xfrm>
          <a:prstGeom prst="rect">
            <a:avLst/>
          </a:prstGeom>
          <a:solidFill>
            <a:srgbClr val="8B3A2A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6272784" y="3310128"/>
            <a:ext cx="8595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WS-2</a:t>
            </a:r>
            <a:endParaRPr lang="en-US" sz="850" dirty="0"/>
          </a:p>
        </p:txBody>
      </p:sp>
      <p:sp>
        <p:nvSpPr>
          <p:cNvPr id="87" name="Shape 85"/>
          <p:cNvSpPr/>
          <p:nvPr/>
        </p:nvSpPr>
        <p:spPr>
          <a:xfrm>
            <a:off x="201168" y="3602736"/>
            <a:ext cx="4572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237744" y="3602736"/>
            <a:ext cx="4023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1A0E"/>
                </a:solidFill>
              </a:rPr>
              <a:t>G</a:t>
            </a:r>
            <a:endParaRPr lang="en-US" sz="850" dirty="0"/>
          </a:p>
        </p:txBody>
      </p:sp>
      <p:sp>
        <p:nvSpPr>
          <p:cNvPr id="89" name="Shape 87"/>
          <p:cNvSpPr/>
          <p:nvPr/>
        </p:nvSpPr>
        <p:spPr>
          <a:xfrm>
            <a:off x="658368" y="3602736"/>
            <a:ext cx="333756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694944" y="3602736"/>
            <a:ext cx="32826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1A0E"/>
                </a:solidFill>
              </a:rPr>
              <a:t>Post-enrobe cooling pass</a:t>
            </a:r>
            <a:endParaRPr lang="en-US" sz="850" dirty="0"/>
          </a:p>
        </p:txBody>
      </p:sp>
      <p:sp>
        <p:nvSpPr>
          <p:cNvPr id="91" name="Shape 89"/>
          <p:cNvSpPr/>
          <p:nvPr/>
        </p:nvSpPr>
        <p:spPr>
          <a:xfrm>
            <a:off x="3995928" y="3602736"/>
            <a:ext cx="16002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4032504" y="3602736"/>
            <a:ext cx="15453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1A0E"/>
                </a:solidFill>
              </a:rPr>
              <a:t>12.0</a:t>
            </a:r>
            <a:endParaRPr lang="en-US" sz="850" dirty="0"/>
          </a:p>
        </p:txBody>
      </p:sp>
      <p:sp>
        <p:nvSpPr>
          <p:cNvPr id="93" name="Shape 91"/>
          <p:cNvSpPr/>
          <p:nvPr/>
        </p:nvSpPr>
        <p:spPr>
          <a:xfrm>
            <a:off x="5596128" y="3602736"/>
            <a:ext cx="6400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5632704" y="3602736"/>
            <a:ext cx="5852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1A0E"/>
                </a:solidFill>
              </a:rPr>
              <a:t>F</a:t>
            </a:r>
            <a:endParaRPr lang="en-US" sz="850" dirty="0"/>
          </a:p>
        </p:txBody>
      </p:sp>
      <p:sp>
        <p:nvSpPr>
          <p:cNvPr id="95" name="Shape 93"/>
          <p:cNvSpPr/>
          <p:nvPr/>
        </p:nvSpPr>
        <p:spPr>
          <a:xfrm>
            <a:off x="6236208" y="3602736"/>
            <a:ext cx="914400" cy="292608"/>
          </a:xfrm>
          <a:prstGeom prst="rect">
            <a:avLst/>
          </a:prstGeom>
          <a:solidFill>
            <a:srgbClr val="A06030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6272784" y="3602736"/>
            <a:ext cx="8595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WS-3</a:t>
            </a:r>
            <a:endParaRPr lang="en-US" sz="850" dirty="0"/>
          </a:p>
        </p:txBody>
      </p:sp>
      <p:sp>
        <p:nvSpPr>
          <p:cNvPr id="97" name="Shape 95"/>
          <p:cNvSpPr/>
          <p:nvPr/>
        </p:nvSpPr>
        <p:spPr>
          <a:xfrm>
            <a:off x="201168" y="3895344"/>
            <a:ext cx="457200" cy="292608"/>
          </a:xfrm>
          <a:prstGeom prst="rect">
            <a:avLst/>
          </a:prstGeom>
          <a:solidFill>
            <a:srgbClr val="F5F0EB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237744" y="3895344"/>
            <a:ext cx="4023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1A0E"/>
                </a:solidFill>
              </a:rPr>
              <a:t>H</a:t>
            </a:r>
            <a:endParaRPr lang="en-US" sz="850" dirty="0"/>
          </a:p>
        </p:txBody>
      </p:sp>
      <p:sp>
        <p:nvSpPr>
          <p:cNvPr id="99" name="Shape 97"/>
          <p:cNvSpPr/>
          <p:nvPr/>
        </p:nvSpPr>
        <p:spPr>
          <a:xfrm>
            <a:off x="658368" y="3895344"/>
            <a:ext cx="3337560" cy="292608"/>
          </a:xfrm>
          <a:prstGeom prst="rect">
            <a:avLst/>
          </a:prstGeom>
          <a:solidFill>
            <a:srgbClr val="F5F0EB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694944" y="3895344"/>
            <a:ext cx="32826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1A0E"/>
                </a:solidFill>
              </a:rPr>
              <a:t>Visual QC inspection</a:t>
            </a:r>
            <a:endParaRPr lang="en-US" sz="850" dirty="0"/>
          </a:p>
        </p:txBody>
      </p:sp>
      <p:sp>
        <p:nvSpPr>
          <p:cNvPr id="101" name="Shape 99"/>
          <p:cNvSpPr/>
          <p:nvPr/>
        </p:nvSpPr>
        <p:spPr>
          <a:xfrm>
            <a:off x="3995928" y="3895344"/>
            <a:ext cx="1600200" cy="292608"/>
          </a:xfrm>
          <a:prstGeom prst="rect">
            <a:avLst/>
          </a:prstGeom>
          <a:solidFill>
            <a:srgbClr val="F5F0EB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4032504" y="3895344"/>
            <a:ext cx="15453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1A0E"/>
                </a:solidFill>
              </a:rPr>
              <a:t>3.5</a:t>
            </a:r>
            <a:endParaRPr lang="en-US" sz="850" dirty="0"/>
          </a:p>
        </p:txBody>
      </p:sp>
      <p:sp>
        <p:nvSpPr>
          <p:cNvPr id="103" name="Shape 101"/>
          <p:cNvSpPr/>
          <p:nvPr/>
        </p:nvSpPr>
        <p:spPr>
          <a:xfrm>
            <a:off x="5596128" y="3895344"/>
            <a:ext cx="640080" cy="292608"/>
          </a:xfrm>
          <a:prstGeom prst="rect">
            <a:avLst/>
          </a:prstGeom>
          <a:solidFill>
            <a:srgbClr val="F5F0EB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5632704" y="3895344"/>
            <a:ext cx="5852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1A0E"/>
                </a:solidFill>
              </a:rPr>
              <a:t>G</a:t>
            </a:r>
            <a:endParaRPr lang="en-US" sz="850" dirty="0"/>
          </a:p>
        </p:txBody>
      </p:sp>
      <p:sp>
        <p:nvSpPr>
          <p:cNvPr id="105" name="Shape 103"/>
          <p:cNvSpPr/>
          <p:nvPr/>
        </p:nvSpPr>
        <p:spPr>
          <a:xfrm>
            <a:off x="6236208" y="3895344"/>
            <a:ext cx="914400" cy="292608"/>
          </a:xfrm>
          <a:prstGeom prst="rect">
            <a:avLst/>
          </a:prstGeom>
          <a:solidFill>
            <a:srgbClr val="A06030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6272784" y="3895344"/>
            <a:ext cx="8595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WS-3</a:t>
            </a:r>
            <a:endParaRPr lang="en-US" sz="850" dirty="0"/>
          </a:p>
        </p:txBody>
      </p:sp>
      <p:sp>
        <p:nvSpPr>
          <p:cNvPr id="107" name="Shape 105"/>
          <p:cNvSpPr/>
          <p:nvPr/>
        </p:nvSpPr>
        <p:spPr>
          <a:xfrm>
            <a:off x="201168" y="4187952"/>
            <a:ext cx="4572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237744" y="4187952"/>
            <a:ext cx="4023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1A0E"/>
                </a:solidFill>
              </a:rPr>
              <a:t>I</a:t>
            </a:r>
            <a:endParaRPr lang="en-US" sz="850" dirty="0"/>
          </a:p>
        </p:txBody>
      </p:sp>
      <p:sp>
        <p:nvSpPr>
          <p:cNvPr id="109" name="Shape 107"/>
          <p:cNvSpPr/>
          <p:nvPr/>
        </p:nvSpPr>
        <p:spPr>
          <a:xfrm>
            <a:off x="658368" y="4187952"/>
            <a:ext cx="333756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694944" y="4187952"/>
            <a:ext cx="32826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1A0E"/>
                </a:solidFill>
              </a:rPr>
              <a:t>Checkweigher inline</a:t>
            </a:r>
            <a:endParaRPr lang="en-US" sz="850" dirty="0"/>
          </a:p>
        </p:txBody>
      </p:sp>
      <p:sp>
        <p:nvSpPr>
          <p:cNvPr id="111" name="Shape 109"/>
          <p:cNvSpPr/>
          <p:nvPr/>
        </p:nvSpPr>
        <p:spPr>
          <a:xfrm>
            <a:off x="3995928" y="4187952"/>
            <a:ext cx="16002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4032504" y="4187952"/>
            <a:ext cx="15453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1A0E"/>
                </a:solidFill>
              </a:rPr>
              <a:t>2.0</a:t>
            </a:r>
            <a:endParaRPr lang="en-US" sz="850" dirty="0"/>
          </a:p>
        </p:txBody>
      </p:sp>
      <p:sp>
        <p:nvSpPr>
          <p:cNvPr id="113" name="Shape 111"/>
          <p:cNvSpPr/>
          <p:nvPr/>
        </p:nvSpPr>
        <p:spPr>
          <a:xfrm>
            <a:off x="5596128" y="4187952"/>
            <a:ext cx="6400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5632704" y="4187952"/>
            <a:ext cx="5852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1A0E"/>
                </a:solidFill>
              </a:rPr>
              <a:t>H</a:t>
            </a:r>
            <a:endParaRPr lang="en-US" sz="850" dirty="0"/>
          </a:p>
        </p:txBody>
      </p:sp>
      <p:sp>
        <p:nvSpPr>
          <p:cNvPr id="115" name="Shape 113"/>
          <p:cNvSpPr/>
          <p:nvPr/>
        </p:nvSpPr>
        <p:spPr>
          <a:xfrm>
            <a:off x="6236208" y="4187952"/>
            <a:ext cx="914400" cy="292608"/>
          </a:xfrm>
          <a:prstGeom prst="rect">
            <a:avLst/>
          </a:prstGeom>
          <a:solidFill>
            <a:srgbClr val="A06030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6272784" y="4187952"/>
            <a:ext cx="8595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WS-3</a:t>
            </a:r>
            <a:endParaRPr lang="en-US" sz="850" dirty="0"/>
          </a:p>
        </p:txBody>
      </p:sp>
      <p:sp>
        <p:nvSpPr>
          <p:cNvPr id="117" name="Shape 115"/>
          <p:cNvSpPr/>
          <p:nvPr/>
        </p:nvSpPr>
        <p:spPr>
          <a:xfrm>
            <a:off x="201168" y="4480560"/>
            <a:ext cx="457200" cy="292608"/>
          </a:xfrm>
          <a:prstGeom prst="rect">
            <a:avLst/>
          </a:prstGeom>
          <a:solidFill>
            <a:srgbClr val="F5F0EB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237744" y="4480560"/>
            <a:ext cx="4023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1A0E"/>
                </a:solidFill>
              </a:rPr>
              <a:t>J</a:t>
            </a:r>
            <a:endParaRPr lang="en-US" sz="850" dirty="0"/>
          </a:p>
        </p:txBody>
      </p:sp>
      <p:sp>
        <p:nvSpPr>
          <p:cNvPr id="119" name="Shape 117"/>
          <p:cNvSpPr/>
          <p:nvPr/>
        </p:nvSpPr>
        <p:spPr>
          <a:xfrm>
            <a:off x="658368" y="4480560"/>
            <a:ext cx="3337560" cy="292608"/>
          </a:xfrm>
          <a:prstGeom prst="rect">
            <a:avLst/>
          </a:prstGeom>
          <a:solidFill>
            <a:srgbClr val="F5F0EB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694944" y="4480560"/>
            <a:ext cx="32826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1A0E"/>
                </a:solidFill>
              </a:rPr>
              <a:t>Rejection &amp; rework feed</a:t>
            </a:r>
            <a:endParaRPr lang="en-US" sz="850" dirty="0"/>
          </a:p>
        </p:txBody>
      </p:sp>
      <p:sp>
        <p:nvSpPr>
          <p:cNvPr id="121" name="Shape 119"/>
          <p:cNvSpPr/>
          <p:nvPr/>
        </p:nvSpPr>
        <p:spPr>
          <a:xfrm>
            <a:off x="3995928" y="4480560"/>
            <a:ext cx="1600200" cy="292608"/>
          </a:xfrm>
          <a:prstGeom prst="rect">
            <a:avLst/>
          </a:prstGeom>
          <a:solidFill>
            <a:srgbClr val="F5F0EB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4032504" y="4480560"/>
            <a:ext cx="15453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1A0E"/>
                </a:solidFill>
              </a:rPr>
              <a:t>3.0</a:t>
            </a:r>
            <a:endParaRPr lang="en-US" sz="850" dirty="0"/>
          </a:p>
        </p:txBody>
      </p:sp>
      <p:sp>
        <p:nvSpPr>
          <p:cNvPr id="123" name="Shape 121"/>
          <p:cNvSpPr/>
          <p:nvPr/>
        </p:nvSpPr>
        <p:spPr>
          <a:xfrm>
            <a:off x="5596128" y="4480560"/>
            <a:ext cx="640080" cy="292608"/>
          </a:xfrm>
          <a:prstGeom prst="rect">
            <a:avLst/>
          </a:prstGeom>
          <a:solidFill>
            <a:srgbClr val="F5F0EB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5632704" y="4480560"/>
            <a:ext cx="5852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1A0E"/>
                </a:solidFill>
              </a:rPr>
              <a:t>I</a:t>
            </a:r>
            <a:endParaRPr lang="en-US" sz="850" dirty="0"/>
          </a:p>
        </p:txBody>
      </p:sp>
      <p:sp>
        <p:nvSpPr>
          <p:cNvPr id="125" name="Shape 123"/>
          <p:cNvSpPr/>
          <p:nvPr/>
        </p:nvSpPr>
        <p:spPr>
          <a:xfrm>
            <a:off x="6236208" y="4480560"/>
            <a:ext cx="914400" cy="292608"/>
          </a:xfrm>
          <a:prstGeom prst="rect">
            <a:avLst/>
          </a:prstGeom>
          <a:solidFill>
            <a:srgbClr val="A06030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6272784" y="4480560"/>
            <a:ext cx="8595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WS-3</a:t>
            </a:r>
            <a:endParaRPr lang="en-US" sz="850" dirty="0"/>
          </a:p>
        </p:txBody>
      </p:sp>
      <p:sp>
        <p:nvSpPr>
          <p:cNvPr id="127" name="Shape 125"/>
          <p:cNvSpPr/>
          <p:nvPr/>
        </p:nvSpPr>
        <p:spPr>
          <a:xfrm>
            <a:off x="7223760" y="1517904"/>
            <a:ext cx="17373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9A87C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7296912" y="1554480"/>
            <a:ext cx="15910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B1A08"/>
                </a:solidFill>
              </a:rPr>
              <a:t>Summary</a:t>
            </a:r>
            <a:endParaRPr lang="en-US" sz="1000" dirty="0"/>
          </a:p>
        </p:txBody>
      </p:sp>
      <p:sp>
        <p:nvSpPr>
          <p:cNvPr id="129" name="Shape 127"/>
          <p:cNvSpPr/>
          <p:nvPr/>
        </p:nvSpPr>
        <p:spPr>
          <a:xfrm>
            <a:off x="7278624" y="1901952"/>
            <a:ext cx="1627632" cy="475488"/>
          </a:xfrm>
          <a:prstGeom prst="rect">
            <a:avLst/>
          </a:prstGeom>
          <a:solidFill>
            <a:srgbClr val="F5F0EB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7315200" y="1920240"/>
            <a:ext cx="1554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B3A2A"/>
                </a:solidFill>
              </a:rPr>
              <a:t>Σ Task Times</a:t>
            </a:r>
            <a:endParaRPr lang="en-US" sz="850" dirty="0"/>
          </a:p>
        </p:txBody>
      </p:sp>
      <p:sp>
        <p:nvSpPr>
          <p:cNvPr id="131" name="Text 129"/>
          <p:cNvSpPr/>
          <p:nvPr/>
        </p:nvSpPr>
        <p:spPr>
          <a:xfrm>
            <a:off x="7315200" y="2139696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1A0E"/>
                </a:solidFill>
              </a:rPr>
              <a:t>76.5 min</a:t>
            </a:r>
            <a:endParaRPr lang="en-US" sz="850" dirty="0"/>
          </a:p>
        </p:txBody>
      </p:sp>
      <p:sp>
        <p:nvSpPr>
          <p:cNvPr id="132" name="Shape 130"/>
          <p:cNvSpPr/>
          <p:nvPr/>
        </p:nvSpPr>
        <p:spPr>
          <a:xfrm>
            <a:off x="7278624" y="2404872"/>
            <a:ext cx="1627632" cy="475488"/>
          </a:xfrm>
          <a:prstGeom prst="rect">
            <a:avLst/>
          </a:prstGeom>
          <a:solidFill>
            <a:srgbClr val="F5F0EB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7315200" y="2423160"/>
            <a:ext cx="1554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B3A2A"/>
                </a:solidFill>
              </a:rPr>
              <a:t># Stations</a:t>
            </a:r>
            <a:endParaRPr lang="en-US" sz="850" dirty="0"/>
          </a:p>
        </p:txBody>
      </p:sp>
      <p:sp>
        <p:nvSpPr>
          <p:cNvPr id="134" name="Text 132"/>
          <p:cNvSpPr/>
          <p:nvPr/>
        </p:nvSpPr>
        <p:spPr>
          <a:xfrm>
            <a:off x="7315200" y="2642616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1A0E"/>
                </a:solidFill>
              </a:rPr>
              <a:t>3 WS</a:t>
            </a:r>
            <a:endParaRPr lang="en-US" sz="850" dirty="0"/>
          </a:p>
        </p:txBody>
      </p:sp>
      <p:sp>
        <p:nvSpPr>
          <p:cNvPr id="135" name="Shape 133"/>
          <p:cNvSpPr/>
          <p:nvPr/>
        </p:nvSpPr>
        <p:spPr>
          <a:xfrm>
            <a:off x="7278624" y="2907792"/>
            <a:ext cx="1627632" cy="475488"/>
          </a:xfrm>
          <a:prstGeom prst="rect">
            <a:avLst/>
          </a:prstGeom>
          <a:solidFill>
            <a:srgbClr val="F5F0EB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7315200" y="2926080"/>
            <a:ext cx="1554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B3A2A"/>
                </a:solidFill>
              </a:rPr>
              <a:t>Bottleneck</a:t>
            </a:r>
            <a:endParaRPr lang="en-US" sz="850" dirty="0"/>
          </a:p>
        </p:txBody>
      </p:sp>
      <p:sp>
        <p:nvSpPr>
          <p:cNvPr id="137" name="Text 135"/>
          <p:cNvSpPr/>
          <p:nvPr/>
        </p:nvSpPr>
        <p:spPr>
          <a:xfrm>
            <a:off x="7315200" y="3145536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1A0E"/>
                </a:solidFill>
              </a:rPr>
              <a:t>WS-2: 33 min</a:t>
            </a:r>
            <a:endParaRPr lang="en-US" sz="850" dirty="0"/>
          </a:p>
        </p:txBody>
      </p:sp>
      <p:sp>
        <p:nvSpPr>
          <p:cNvPr id="138" name="Shape 136"/>
          <p:cNvSpPr/>
          <p:nvPr/>
        </p:nvSpPr>
        <p:spPr>
          <a:xfrm>
            <a:off x="7278624" y="3410712"/>
            <a:ext cx="1627632" cy="475488"/>
          </a:xfrm>
          <a:prstGeom prst="rect">
            <a:avLst/>
          </a:prstGeom>
          <a:solidFill>
            <a:srgbClr val="F5F0EB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7315200" y="3429000"/>
            <a:ext cx="1554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B3A2A"/>
                </a:solidFill>
              </a:rPr>
              <a:t>Efficiency</a:t>
            </a:r>
            <a:endParaRPr lang="en-US" sz="850" dirty="0"/>
          </a:p>
        </p:txBody>
      </p:sp>
      <p:sp>
        <p:nvSpPr>
          <p:cNvPr id="140" name="Text 138"/>
          <p:cNvSpPr/>
          <p:nvPr/>
        </p:nvSpPr>
        <p:spPr>
          <a:xfrm>
            <a:off x="7315200" y="3648456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1A0E"/>
                </a:solidFill>
              </a:rPr>
              <a:t>(76.5/99)</a:t>
            </a:r>
            <a:endParaRPr lang="en-US" sz="850" dirty="0"/>
          </a:p>
        </p:txBody>
      </p:sp>
      <p:sp>
        <p:nvSpPr>
          <p:cNvPr id="141" name="Shape 139"/>
          <p:cNvSpPr/>
          <p:nvPr/>
        </p:nvSpPr>
        <p:spPr>
          <a:xfrm>
            <a:off x="7278624" y="3913632"/>
            <a:ext cx="1627632" cy="475488"/>
          </a:xfrm>
          <a:prstGeom prst="rect">
            <a:avLst/>
          </a:prstGeom>
          <a:solidFill>
            <a:srgbClr val="C9952C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7315200" y="3931920"/>
            <a:ext cx="1554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= 77.3%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6B3A2A"/>
          </a:solidFill>
          <a:ln w="12700">
            <a:solidFill>
              <a:srgbClr val="6B3A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C9952C"/>
          </a:solidFill>
          <a:ln w="12700">
            <a:solidFill>
              <a:srgbClr val="C9952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73152"/>
            <a:ext cx="8686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14. LINE BALANCING — Packaging / Assembly Area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201168" y="877824"/>
            <a:ext cx="2103120" cy="566928"/>
          </a:xfrm>
          <a:prstGeom prst="rect">
            <a:avLst/>
          </a:prstGeom>
          <a:solidFill>
            <a:srgbClr val="F5F0EB"/>
          </a:solidFill>
          <a:ln w="12700">
            <a:solidFill>
              <a:srgbClr val="C9A87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92608" y="905256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3A2A"/>
                </a:solidFill>
              </a:rPr>
              <a:t>Output Target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92608" y="1152144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B1A08"/>
                </a:solidFill>
              </a:rPr>
              <a:t>5,000 kg/day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414016" y="877824"/>
            <a:ext cx="2103120" cy="566928"/>
          </a:xfrm>
          <a:prstGeom prst="rect">
            <a:avLst/>
          </a:prstGeom>
          <a:solidFill>
            <a:srgbClr val="F5F0EB"/>
          </a:solidFill>
          <a:ln w="12700">
            <a:solidFill>
              <a:srgbClr val="C9A87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05456" y="905256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3A2A"/>
                </a:solidFill>
              </a:rPr>
              <a:t>Working Time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505456" y="1152144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B1A08"/>
                </a:solidFill>
              </a:rPr>
              <a:t>480 min/day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26864" y="877824"/>
            <a:ext cx="2103120" cy="566928"/>
          </a:xfrm>
          <a:prstGeom prst="rect">
            <a:avLst/>
          </a:prstGeom>
          <a:solidFill>
            <a:srgbClr val="F5F0EB"/>
          </a:solidFill>
          <a:ln w="12700">
            <a:solidFill>
              <a:srgbClr val="C9A87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18304" y="905256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3A2A"/>
                </a:solidFill>
              </a:rPr>
              <a:t>Cycle Time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718304" y="1152144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B1A08"/>
                </a:solidFill>
              </a:rPr>
              <a:t>CT = 0.096 min/kg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839712" y="877824"/>
            <a:ext cx="2103120" cy="566928"/>
          </a:xfrm>
          <a:prstGeom prst="rect">
            <a:avLst/>
          </a:prstGeom>
          <a:solidFill>
            <a:srgbClr val="F5F0EB"/>
          </a:solidFill>
          <a:ln w="12700">
            <a:solidFill>
              <a:srgbClr val="C9A87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31152" y="905256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3A2A"/>
                </a:solidFill>
              </a:rPr>
              <a:t>Workstations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931152" y="1152144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B1A08"/>
                </a:solidFill>
              </a:rPr>
              <a:t>4 WS assigned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01168" y="1517904"/>
            <a:ext cx="457200" cy="329184"/>
          </a:xfrm>
          <a:prstGeom prst="rect">
            <a:avLst/>
          </a:prstGeom>
          <a:solidFill>
            <a:srgbClr val="3B1A0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37744" y="1517904"/>
            <a:ext cx="4023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ID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58368" y="1517904"/>
            <a:ext cx="3383280" cy="329184"/>
          </a:xfrm>
          <a:prstGeom prst="rect">
            <a:avLst/>
          </a:prstGeom>
          <a:solidFill>
            <a:srgbClr val="3B1A0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4944" y="1517904"/>
            <a:ext cx="332841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Task Description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041648" y="1517904"/>
            <a:ext cx="1600200" cy="329184"/>
          </a:xfrm>
          <a:prstGeom prst="rect">
            <a:avLst/>
          </a:prstGeom>
          <a:solidFill>
            <a:srgbClr val="3B1A0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078224" y="1517904"/>
            <a:ext cx="15453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Time (min/batch)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641848" y="1517904"/>
            <a:ext cx="594360" cy="329184"/>
          </a:xfrm>
          <a:prstGeom prst="rect">
            <a:avLst/>
          </a:prstGeom>
          <a:solidFill>
            <a:srgbClr val="3B1A0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78424" y="1517904"/>
            <a:ext cx="5394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Pred.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36208" y="1517904"/>
            <a:ext cx="914400" cy="329184"/>
          </a:xfrm>
          <a:prstGeom prst="rect">
            <a:avLst/>
          </a:prstGeom>
          <a:solidFill>
            <a:srgbClr val="3B1A0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72784" y="1517904"/>
            <a:ext cx="8595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Workstation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01168" y="1847088"/>
            <a:ext cx="457200" cy="292608"/>
          </a:xfrm>
          <a:prstGeom prst="rect">
            <a:avLst/>
          </a:prstGeom>
          <a:solidFill>
            <a:srgbClr val="F5F0EB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37744" y="1847088"/>
            <a:ext cx="4023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1A0E"/>
                </a:solidFill>
              </a:rPr>
              <a:t>P1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58368" y="1847088"/>
            <a:ext cx="3383280" cy="292608"/>
          </a:xfrm>
          <a:prstGeom prst="rect">
            <a:avLst/>
          </a:prstGeom>
          <a:solidFill>
            <a:srgbClr val="F5F0EB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4944" y="1847088"/>
            <a:ext cx="33284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1A0E"/>
                </a:solidFill>
              </a:rPr>
              <a:t>Unwrap / de-nest product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041648" y="1847088"/>
            <a:ext cx="1600200" cy="292608"/>
          </a:xfrm>
          <a:prstGeom prst="rect">
            <a:avLst/>
          </a:prstGeom>
          <a:solidFill>
            <a:srgbClr val="F5F0EB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078224" y="1847088"/>
            <a:ext cx="15453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1A0E"/>
                </a:solidFill>
              </a:rPr>
              <a:t>2.5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5641848" y="1847088"/>
            <a:ext cx="594360" cy="292608"/>
          </a:xfrm>
          <a:prstGeom prst="rect">
            <a:avLst/>
          </a:prstGeom>
          <a:solidFill>
            <a:srgbClr val="F5F0EB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78424" y="1847088"/>
            <a:ext cx="5394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1A0E"/>
                </a:solidFill>
              </a:rPr>
              <a:t>—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236208" y="1847088"/>
            <a:ext cx="914400" cy="292608"/>
          </a:xfrm>
          <a:prstGeom prst="rect">
            <a:avLst/>
          </a:prstGeom>
          <a:solidFill>
            <a:srgbClr val="6B3A2A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72784" y="1847088"/>
            <a:ext cx="8595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WS-1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201168" y="2139696"/>
            <a:ext cx="4572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37744" y="2139696"/>
            <a:ext cx="4023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1A0E"/>
                </a:solidFill>
              </a:rPr>
              <a:t>P2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58368" y="2139696"/>
            <a:ext cx="33832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94944" y="2139696"/>
            <a:ext cx="33284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1A0E"/>
                </a:solidFill>
              </a:rPr>
              <a:t>Primary wrap (foil / flow-pack)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041648" y="2139696"/>
            <a:ext cx="16002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078224" y="2139696"/>
            <a:ext cx="15453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1A0E"/>
                </a:solidFill>
              </a:rPr>
              <a:t>5.0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5641848" y="2139696"/>
            <a:ext cx="59436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678424" y="2139696"/>
            <a:ext cx="5394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1A0E"/>
                </a:solidFill>
              </a:rPr>
              <a:t>P1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6236208" y="2139696"/>
            <a:ext cx="914400" cy="292608"/>
          </a:xfrm>
          <a:prstGeom prst="rect">
            <a:avLst/>
          </a:prstGeom>
          <a:solidFill>
            <a:srgbClr val="6B3A2A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272784" y="2139696"/>
            <a:ext cx="8595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WS-1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201168" y="2432304"/>
            <a:ext cx="457200" cy="292608"/>
          </a:xfrm>
          <a:prstGeom prst="rect">
            <a:avLst/>
          </a:prstGeom>
          <a:solidFill>
            <a:srgbClr val="F5F0EB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37744" y="2432304"/>
            <a:ext cx="4023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1A0E"/>
                </a:solidFill>
              </a:rPr>
              <a:t>P3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658368" y="2432304"/>
            <a:ext cx="3383280" cy="292608"/>
          </a:xfrm>
          <a:prstGeom prst="rect">
            <a:avLst/>
          </a:prstGeom>
          <a:solidFill>
            <a:srgbClr val="F5F0EB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94944" y="2432304"/>
            <a:ext cx="33284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1A0E"/>
                </a:solidFill>
              </a:rPr>
              <a:t>Label &amp; date-code application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4041648" y="2432304"/>
            <a:ext cx="1600200" cy="292608"/>
          </a:xfrm>
          <a:prstGeom prst="rect">
            <a:avLst/>
          </a:prstGeom>
          <a:solidFill>
            <a:srgbClr val="F5F0EB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078224" y="2432304"/>
            <a:ext cx="15453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1A0E"/>
                </a:solidFill>
              </a:rPr>
              <a:t>3.0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5641848" y="2432304"/>
            <a:ext cx="594360" cy="292608"/>
          </a:xfrm>
          <a:prstGeom prst="rect">
            <a:avLst/>
          </a:prstGeom>
          <a:solidFill>
            <a:srgbClr val="F5F0EB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678424" y="2432304"/>
            <a:ext cx="5394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1A0E"/>
                </a:solidFill>
              </a:rPr>
              <a:t>P2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6236208" y="2432304"/>
            <a:ext cx="914400" cy="292608"/>
          </a:xfrm>
          <a:prstGeom prst="rect">
            <a:avLst/>
          </a:prstGeom>
          <a:solidFill>
            <a:srgbClr val="6B3A2A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272784" y="2432304"/>
            <a:ext cx="8595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WS-1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201168" y="2724912"/>
            <a:ext cx="4572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37744" y="2724912"/>
            <a:ext cx="4023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1A0E"/>
                </a:solidFill>
              </a:rPr>
              <a:t>P4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658368" y="2724912"/>
            <a:ext cx="33832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94944" y="2724912"/>
            <a:ext cx="33284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1A0E"/>
                </a:solidFill>
              </a:rPr>
              <a:t>Checkweigher pass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4041648" y="2724912"/>
            <a:ext cx="16002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078224" y="2724912"/>
            <a:ext cx="15453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1A0E"/>
                </a:solidFill>
              </a:rPr>
              <a:t>1.5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5641848" y="2724912"/>
            <a:ext cx="59436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678424" y="2724912"/>
            <a:ext cx="5394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1A0E"/>
                </a:solidFill>
              </a:rPr>
              <a:t>P3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6236208" y="2724912"/>
            <a:ext cx="914400" cy="292608"/>
          </a:xfrm>
          <a:prstGeom prst="rect">
            <a:avLst/>
          </a:prstGeom>
          <a:solidFill>
            <a:srgbClr val="9B6A4A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272784" y="2724912"/>
            <a:ext cx="8595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WS-2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201168" y="3017520"/>
            <a:ext cx="457200" cy="292608"/>
          </a:xfrm>
          <a:prstGeom prst="rect">
            <a:avLst/>
          </a:prstGeom>
          <a:solidFill>
            <a:srgbClr val="F5F0EB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37744" y="3017520"/>
            <a:ext cx="4023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1A0E"/>
                </a:solidFill>
              </a:rPr>
              <a:t>P5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658368" y="3017520"/>
            <a:ext cx="3383280" cy="292608"/>
          </a:xfrm>
          <a:prstGeom prst="rect">
            <a:avLst/>
          </a:prstGeom>
          <a:solidFill>
            <a:srgbClr val="F5F0EB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94944" y="3017520"/>
            <a:ext cx="33284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1A0E"/>
                </a:solidFill>
              </a:rPr>
              <a:t>Metal detector pass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4041648" y="3017520"/>
            <a:ext cx="1600200" cy="292608"/>
          </a:xfrm>
          <a:prstGeom prst="rect">
            <a:avLst/>
          </a:prstGeom>
          <a:solidFill>
            <a:srgbClr val="F5F0EB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078224" y="3017520"/>
            <a:ext cx="15453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1A0E"/>
                </a:solidFill>
              </a:rPr>
              <a:t>1.5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5641848" y="3017520"/>
            <a:ext cx="594360" cy="292608"/>
          </a:xfrm>
          <a:prstGeom prst="rect">
            <a:avLst/>
          </a:prstGeom>
          <a:solidFill>
            <a:srgbClr val="F5F0EB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678424" y="3017520"/>
            <a:ext cx="5394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1A0E"/>
                </a:solidFill>
              </a:rPr>
              <a:t>P4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6236208" y="3017520"/>
            <a:ext cx="914400" cy="292608"/>
          </a:xfrm>
          <a:prstGeom prst="rect">
            <a:avLst/>
          </a:prstGeom>
          <a:solidFill>
            <a:srgbClr val="9B6A4A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272784" y="3017520"/>
            <a:ext cx="8595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WS-2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201168" y="3310128"/>
            <a:ext cx="4572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237744" y="3310128"/>
            <a:ext cx="4023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1A0E"/>
                </a:solidFill>
              </a:rPr>
              <a:t>P6</a:t>
            </a:r>
            <a:endParaRPr lang="en-US" sz="850" dirty="0"/>
          </a:p>
        </p:txBody>
      </p:sp>
      <p:sp>
        <p:nvSpPr>
          <p:cNvPr id="79" name="Shape 77"/>
          <p:cNvSpPr/>
          <p:nvPr/>
        </p:nvSpPr>
        <p:spPr>
          <a:xfrm>
            <a:off x="658368" y="3310128"/>
            <a:ext cx="33832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94944" y="3310128"/>
            <a:ext cx="33284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1A0E"/>
                </a:solidFill>
              </a:rPr>
              <a:t>Vision QC (colour &amp; shape)</a:t>
            </a:r>
            <a:endParaRPr lang="en-US" sz="850" dirty="0"/>
          </a:p>
        </p:txBody>
      </p:sp>
      <p:sp>
        <p:nvSpPr>
          <p:cNvPr id="81" name="Shape 79"/>
          <p:cNvSpPr/>
          <p:nvPr/>
        </p:nvSpPr>
        <p:spPr>
          <a:xfrm>
            <a:off x="4041648" y="3310128"/>
            <a:ext cx="16002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4078224" y="3310128"/>
            <a:ext cx="15453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1A0E"/>
                </a:solidFill>
              </a:rPr>
              <a:t>2.5</a:t>
            </a:r>
            <a:endParaRPr lang="en-US" sz="850" dirty="0"/>
          </a:p>
        </p:txBody>
      </p:sp>
      <p:sp>
        <p:nvSpPr>
          <p:cNvPr id="83" name="Shape 81"/>
          <p:cNvSpPr/>
          <p:nvPr/>
        </p:nvSpPr>
        <p:spPr>
          <a:xfrm>
            <a:off x="5641848" y="3310128"/>
            <a:ext cx="59436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5678424" y="3310128"/>
            <a:ext cx="5394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1A0E"/>
                </a:solidFill>
              </a:rPr>
              <a:t>P5</a:t>
            </a:r>
            <a:endParaRPr lang="en-US" sz="850" dirty="0"/>
          </a:p>
        </p:txBody>
      </p:sp>
      <p:sp>
        <p:nvSpPr>
          <p:cNvPr id="85" name="Shape 83"/>
          <p:cNvSpPr/>
          <p:nvPr/>
        </p:nvSpPr>
        <p:spPr>
          <a:xfrm>
            <a:off x="6236208" y="3310128"/>
            <a:ext cx="914400" cy="292608"/>
          </a:xfrm>
          <a:prstGeom prst="rect">
            <a:avLst/>
          </a:prstGeom>
          <a:solidFill>
            <a:srgbClr val="9B6A4A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6272784" y="3310128"/>
            <a:ext cx="8595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WS-2</a:t>
            </a:r>
            <a:endParaRPr lang="en-US" sz="850" dirty="0"/>
          </a:p>
        </p:txBody>
      </p:sp>
      <p:sp>
        <p:nvSpPr>
          <p:cNvPr id="87" name="Shape 85"/>
          <p:cNvSpPr/>
          <p:nvPr/>
        </p:nvSpPr>
        <p:spPr>
          <a:xfrm>
            <a:off x="201168" y="3602736"/>
            <a:ext cx="457200" cy="292608"/>
          </a:xfrm>
          <a:prstGeom prst="rect">
            <a:avLst/>
          </a:prstGeom>
          <a:solidFill>
            <a:srgbClr val="F5F0EB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237744" y="3602736"/>
            <a:ext cx="4023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1A0E"/>
                </a:solidFill>
              </a:rPr>
              <a:t>P7</a:t>
            </a:r>
            <a:endParaRPr lang="en-US" sz="850" dirty="0"/>
          </a:p>
        </p:txBody>
      </p:sp>
      <p:sp>
        <p:nvSpPr>
          <p:cNvPr id="89" name="Shape 87"/>
          <p:cNvSpPr/>
          <p:nvPr/>
        </p:nvSpPr>
        <p:spPr>
          <a:xfrm>
            <a:off x="658368" y="3602736"/>
            <a:ext cx="3383280" cy="292608"/>
          </a:xfrm>
          <a:prstGeom prst="rect">
            <a:avLst/>
          </a:prstGeom>
          <a:solidFill>
            <a:srgbClr val="F5F0EB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694944" y="3602736"/>
            <a:ext cx="33284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1A0E"/>
                </a:solidFill>
              </a:rPr>
              <a:t>Carton erecting &amp; loading</a:t>
            </a:r>
            <a:endParaRPr lang="en-US" sz="850" dirty="0"/>
          </a:p>
        </p:txBody>
      </p:sp>
      <p:sp>
        <p:nvSpPr>
          <p:cNvPr id="91" name="Shape 89"/>
          <p:cNvSpPr/>
          <p:nvPr/>
        </p:nvSpPr>
        <p:spPr>
          <a:xfrm>
            <a:off x="4041648" y="3602736"/>
            <a:ext cx="1600200" cy="292608"/>
          </a:xfrm>
          <a:prstGeom prst="rect">
            <a:avLst/>
          </a:prstGeom>
          <a:solidFill>
            <a:srgbClr val="F5F0EB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4078224" y="3602736"/>
            <a:ext cx="15453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1A0E"/>
                </a:solidFill>
              </a:rPr>
              <a:t>6.0</a:t>
            </a:r>
            <a:endParaRPr lang="en-US" sz="850" dirty="0"/>
          </a:p>
        </p:txBody>
      </p:sp>
      <p:sp>
        <p:nvSpPr>
          <p:cNvPr id="93" name="Shape 91"/>
          <p:cNvSpPr/>
          <p:nvPr/>
        </p:nvSpPr>
        <p:spPr>
          <a:xfrm>
            <a:off x="5641848" y="3602736"/>
            <a:ext cx="594360" cy="292608"/>
          </a:xfrm>
          <a:prstGeom prst="rect">
            <a:avLst/>
          </a:prstGeom>
          <a:solidFill>
            <a:srgbClr val="F5F0EB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5678424" y="3602736"/>
            <a:ext cx="5394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1A0E"/>
                </a:solidFill>
              </a:rPr>
              <a:t>P6</a:t>
            </a:r>
            <a:endParaRPr lang="en-US" sz="850" dirty="0"/>
          </a:p>
        </p:txBody>
      </p:sp>
      <p:sp>
        <p:nvSpPr>
          <p:cNvPr id="95" name="Shape 93"/>
          <p:cNvSpPr/>
          <p:nvPr/>
        </p:nvSpPr>
        <p:spPr>
          <a:xfrm>
            <a:off x="6236208" y="3602736"/>
            <a:ext cx="914400" cy="292608"/>
          </a:xfrm>
          <a:prstGeom prst="rect">
            <a:avLst/>
          </a:prstGeom>
          <a:solidFill>
            <a:srgbClr val="7B4A2A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6272784" y="3602736"/>
            <a:ext cx="8595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WS-3</a:t>
            </a:r>
            <a:endParaRPr lang="en-US" sz="850" dirty="0"/>
          </a:p>
        </p:txBody>
      </p:sp>
      <p:sp>
        <p:nvSpPr>
          <p:cNvPr id="97" name="Shape 95"/>
          <p:cNvSpPr/>
          <p:nvPr/>
        </p:nvSpPr>
        <p:spPr>
          <a:xfrm>
            <a:off x="201168" y="3895344"/>
            <a:ext cx="4572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237744" y="3895344"/>
            <a:ext cx="4023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1A0E"/>
                </a:solidFill>
              </a:rPr>
              <a:t>P8</a:t>
            </a:r>
            <a:endParaRPr lang="en-US" sz="850" dirty="0"/>
          </a:p>
        </p:txBody>
      </p:sp>
      <p:sp>
        <p:nvSpPr>
          <p:cNvPr id="99" name="Shape 97"/>
          <p:cNvSpPr/>
          <p:nvPr/>
        </p:nvSpPr>
        <p:spPr>
          <a:xfrm>
            <a:off x="658368" y="3895344"/>
            <a:ext cx="33832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694944" y="3895344"/>
            <a:ext cx="33284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1A0E"/>
                </a:solidFill>
              </a:rPr>
              <a:t>Carton sealing &amp; coding</a:t>
            </a:r>
            <a:endParaRPr lang="en-US" sz="850" dirty="0"/>
          </a:p>
        </p:txBody>
      </p:sp>
      <p:sp>
        <p:nvSpPr>
          <p:cNvPr id="101" name="Shape 99"/>
          <p:cNvSpPr/>
          <p:nvPr/>
        </p:nvSpPr>
        <p:spPr>
          <a:xfrm>
            <a:off x="4041648" y="3895344"/>
            <a:ext cx="16002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4078224" y="3895344"/>
            <a:ext cx="15453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1A0E"/>
                </a:solidFill>
              </a:rPr>
              <a:t>3.5</a:t>
            </a:r>
            <a:endParaRPr lang="en-US" sz="850" dirty="0"/>
          </a:p>
        </p:txBody>
      </p:sp>
      <p:sp>
        <p:nvSpPr>
          <p:cNvPr id="103" name="Shape 101"/>
          <p:cNvSpPr/>
          <p:nvPr/>
        </p:nvSpPr>
        <p:spPr>
          <a:xfrm>
            <a:off x="5641848" y="3895344"/>
            <a:ext cx="59436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5678424" y="3895344"/>
            <a:ext cx="5394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1A0E"/>
                </a:solidFill>
              </a:rPr>
              <a:t>P7</a:t>
            </a:r>
            <a:endParaRPr lang="en-US" sz="850" dirty="0"/>
          </a:p>
        </p:txBody>
      </p:sp>
      <p:sp>
        <p:nvSpPr>
          <p:cNvPr id="105" name="Shape 103"/>
          <p:cNvSpPr/>
          <p:nvPr/>
        </p:nvSpPr>
        <p:spPr>
          <a:xfrm>
            <a:off x="6236208" y="3895344"/>
            <a:ext cx="914400" cy="292608"/>
          </a:xfrm>
          <a:prstGeom prst="rect">
            <a:avLst/>
          </a:prstGeom>
          <a:solidFill>
            <a:srgbClr val="7B4A2A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6272784" y="3895344"/>
            <a:ext cx="8595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WS-3</a:t>
            </a:r>
            <a:endParaRPr lang="en-US" sz="850" dirty="0"/>
          </a:p>
        </p:txBody>
      </p:sp>
      <p:sp>
        <p:nvSpPr>
          <p:cNvPr id="107" name="Shape 105"/>
          <p:cNvSpPr/>
          <p:nvPr/>
        </p:nvSpPr>
        <p:spPr>
          <a:xfrm>
            <a:off x="201168" y="4187952"/>
            <a:ext cx="457200" cy="292608"/>
          </a:xfrm>
          <a:prstGeom prst="rect">
            <a:avLst/>
          </a:prstGeom>
          <a:solidFill>
            <a:srgbClr val="F5F0EB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237744" y="4187952"/>
            <a:ext cx="4023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1A0E"/>
                </a:solidFill>
              </a:rPr>
              <a:t>P9</a:t>
            </a:r>
            <a:endParaRPr lang="en-US" sz="850" dirty="0"/>
          </a:p>
        </p:txBody>
      </p:sp>
      <p:sp>
        <p:nvSpPr>
          <p:cNvPr id="109" name="Shape 107"/>
          <p:cNvSpPr/>
          <p:nvPr/>
        </p:nvSpPr>
        <p:spPr>
          <a:xfrm>
            <a:off x="658368" y="4187952"/>
            <a:ext cx="3383280" cy="292608"/>
          </a:xfrm>
          <a:prstGeom prst="rect">
            <a:avLst/>
          </a:prstGeom>
          <a:solidFill>
            <a:srgbClr val="F5F0EB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694944" y="4187952"/>
            <a:ext cx="33284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1A0E"/>
                </a:solidFill>
              </a:rPr>
              <a:t>Case / shipper packing</a:t>
            </a:r>
            <a:endParaRPr lang="en-US" sz="850" dirty="0"/>
          </a:p>
        </p:txBody>
      </p:sp>
      <p:sp>
        <p:nvSpPr>
          <p:cNvPr id="111" name="Shape 109"/>
          <p:cNvSpPr/>
          <p:nvPr/>
        </p:nvSpPr>
        <p:spPr>
          <a:xfrm>
            <a:off x="4041648" y="4187952"/>
            <a:ext cx="1600200" cy="292608"/>
          </a:xfrm>
          <a:prstGeom prst="rect">
            <a:avLst/>
          </a:prstGeom>
          <a:solidFill>
            <a:srgbClr val="F5F0EB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4078224" y="4187952"/>
            <a:ext cx="15453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1A0E"/>
                </a:solidFill>
              </a:rPr>
              <a:t>5.5</a:t>
            </a:r>
            <a:endParaRPr lang="en-US" sz="850" dirty="0"/>
          </a:p>
        </p:txBody>
      </p:sp>
      <p:sp>
        <p:nvSpPr>
          <p:cNvPr id="113" name="Shape 111"/>
          <p:cNvSpPr/>
          <p:nvPr/>
        </p:nvSpPr>
        <p:spPr>
          <a:xfrm>
            <a:off x="5641848" y="4187952"/>
            <a:ext cx="594360" cy="292608"/>
          </a:xfrm>
          <a:prstGeom prst="rect">
            <a:avLst/>
          </a:prstGeom>
          <a:solidFill>
            <a:srgbClr val="F5F0EB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5678424" y="4187952"/>
            <a:ext cx="5394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1A0E"/>
                </a:solidFill>
              </a:rPr>
              <a:t>P8</a:t>
            </a:r>
            <a:endParaRPr lang="en-US" sz="850" dirty="0"/>
          </a:p>
        </p:txBody>
      </p:sp>
      <p:sp>
        <p:nvSpPr>
          <p:cNvPr id="115" name="Shape 113"/>
          <p:cNvSpPr/>
          <p:nvPr/>
        </p:nvSpPr>
        <p:spPr>
          <a:xfrm>
            <a:off x="6236208" y="4187952"/>
            <a:ext cx="914400" cy="292608"/>
          </a:xfrm>
          <a:prstGeom prst="rect">
            <a:avLst/>
          </a:prstGeom>
          <a:solidFill>
            <a:srgbClr val="C9952C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6272784" y="4187952"/>
            <a:ext cx="8595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WS-4</a:t>
            </a:r>
            <a:endParaRPr lang="en-US" sz="850" dirty="0"/>
          </a:p>
        </p:txBody>
      </p:sp>
      <p:sp>
        <p:nvSpPr>
          <p:cNvPr id="117" name="Shape 115"/>
          <p:cNvSpPr/>
          <p:nvPr/>
        </p:nvSpPr>
        <p:spPr>
          <a:xfrm>
            <a:off x="201168" y="4480560"/>
            <a:ext cx="4572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237744" y="4480560"/>
            <a:ext cx="4023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1A0E"/>
                </a:solidFill>
              </a:rPr>
              <a:t>P10</a:t>
            </a:r>
            <a:endParaRPr lang="en-US" sz="850" dirty="0"/>
          </a:p>
        </p:txBody>
      </p:sp>
      <p:sp>
        <p:nvSpPr>
          <p:cNvPr id="119" name="Shape 117"/>
          <p:cNvSpPr/>
          <p:nvPr/>
        </p:nvSpPr>
        <p:spPr>
          <a:xfrm>
            <a:off x="658368" y="4480560"/>
            <a:ext cx="33832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694944" y="4480560"/>
            <a:ext cx="33284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1A0E"/>
                </a:solidFill>
              </a:rPr>
              <a:t>Palletising &amp; stretch-wrap</a:t>
            </a:r>
            <a:endParaRPr lang="en-US" sz="850" dirty="0"/>
          </a:p>
        </p:txBody>
      </p:sp>
      <p:sp>
        <p:nvSpPr>
          <p:cNvPr id="121" name="Shape 119"/>
          <p:cNvSpPr/>
          <p:nvPr/>
        </p:nvSpPr>
        <p:spPr>
          <a:xfrm>
            <a:off x="4041648" y="4480560"/>
            <a:ext cx="16002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4078224" y="4480560"/>
            <a:ext cx="15453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1A0E"/>
                </a:solidFill>
              </a:rPr>
              <a:t>4.0</a:t>
            </a:r>
            <a:endParaRPr lang="en-US" sz="850" dirty="0"/>
          </a:p>
        </p:txBody>
      </p:sp>
      <p:sp>
        <p:nvSpPr>
          <p:cNvPr id="123" name="Shape 121"/>
          <p:cNvSpPr/>
          <p:nvPr/>
        </p:nvSpPr>
        <p:spPr>
          <a:xfrm>
            <a:off x="5641848" y="4480560"/>
            <a:ext cx="59436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5678424" y="4480560"/>
            <a:ext cx="5394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1A0E"/>
                </a:solidFill>
              </a:rPr>
              <a:t>P9</a:t>
            </a:r>
            <a:endParaRPr lang="en-US" sz="850" dirty="0"/>
          </a:p>
        </p:txBody>
      </p:sp>
      <p:sp>
        <p:nvSpPr>
          <p:cNvPr id="125" name="Shape 123"/>
          <p:cNvSpPr/>
          <p:nvPr/>
        </p:nvSpPr>
        <p:spPr>
          <a:xfrm>
            <a:off x="6236208" y="4480560"/>
            <a:ext cx="914400" cy="292608"/>
          </a:xfrm>
          <a:prstGeom prst="rect">
            <a:avLst/>
          </a:prstGeom>
          <a:solidFill>
            <a:srgbClr val="C9952C"/>
          </a:solidFill>
          <a:ln w="12700">
            <a:solidFill>
              <a:srgbClr val="D4C4B0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6272784" y="4480560"/>
            <a:ext cx="8595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WS-4</a:t>
            </a:r>
            <a:endParaRPr lang="en-US" sz="850" dirty="0"/>
          </a:p>
        </p:txBody>
      </p:sp>
      <p:sp>
        <p:nvSpPr>
          <p:cNvPr id="127" name="Shape 125"/>
          <p:cNvSpPr/>
          <p:nvPr/>
        </p:nvSpPr>
        <p:spPr>
          <a:xfrm>
            <a:off x="7178040" y="1517904"/>
            <a:ext cx="1783080" cy="3337560"/>
          </a:xfrm>
          <a:prstGeom prst="rect">
            <a:avLst/>
          </a:prstGeom>
          <a:solidFill>
            <a:srgbClr val="F5F0EB"/>
          </a:solidFill>
          <a:ln w="12700">
            <a:solidFill>
              <a:srgbClr val="C9A87C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7251192" y="1554480"/>
            <a:ext cx="16367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B1A08"/>
                </a:solidFill>
              </a:rPr>
              <a:t>WS Efficiency</a:t>
            </a:r>
            <a:endParaRPr lang="en-US" sz="950" dirty="0"/>
          </a:p>
        </p:txBody>
      </p:sp>
      <p:sp>
        <p:nvSpPr>
          <p:cNvPr id="129" name="Text 127"/>
          <p:cNvSpPr/>
          <p:nvPr/>
        </p:nvSpPr>
        <p:spPr>
          <a:xfrm>
            <a:off x="7251192" y="190195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3A2A"/>
                </a:solidFill>
              </a:rPr>
              <a:t>WS-1</a:t>
            </a:r>
            <a:endParaRPr lang="en-US" sz="900" dirty="0"/>
          </a:p>
        </p:txBody>
      </p:sp>
      <p:sp>
        <p:nvSpPr>
          <p:cNvPr id="130" name="Shape 128"/>
          <p:cNvSpPr/>
          <p:nvPr/>
        </p:nvSpPr>
        <p:spPr>
          <a:xfrm>
            <a:off x="7251192" y="2176272"/>
            <a:ext cx="1097280" cy="201168"/>
          </a:xfrm>
          <a:prstGeom prst="rect">
            <a:avLst/>
          </a:prstGeom>
          <a:solidFill>
            <a:srgbClr val="E8E0D8"/>
          </a:solidFill>
          <a:ln w="12700">
            <a:solidFill>
              <a:srgbClr val="C9A87C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7251192" y="2176272"/>
            <a:ext cx="960120" cy="201168"/>
          </a:xfrm>
          <a:prstGeom prst="rect">
            <a:avLst/>
          </a:prstGeom>
          <a:solidFill>
            <a:srgbClr val="6B3A2A"/>
          </a:solidFill>
          <a:ln w="12700">
            <a:solidFill>
              <a:srgbClr val="6B3A2A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8247888" y="2176272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B1A08"/>
                </a:solidFill>
              </a:rPr>
              <a:t>87.5%</a:t>
            </a:r>
            <a:endParaRPr lang="en-US" sz="800" dirty="0"/>
          </a:p>
        </p:txBody>
      </p:sp>
      <p:sp>
        <p:nvSpPr>
          <p:cNvPr id="133" name="Text 131"/>
          <p:cNvSpPr/>
          <p:nvPr/>
        </p:nvSpPr>
        <p:spPr>
          <a:xfrm>
            <a:off x="7251192" y="2395728"/>
            <a:ext cx="10972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777777"/>
                </a:solidFill>
              </a:rPr>
              <a:t>Σ=10.5 min</a:t>
            </a:r>
            <a:endParaRPr lang="en-US" sz="700" dirty="0"/>
          </a:p>
        </p:txBody>
      </p:sp>
      <p:sp>
        <p:nvSpPr>
          <p:cNvPr id="134" name="Text 132"/>
          <p:cNvSpPr/>
          <p:nvPr/>
        </p:nvSpPr>
        <p:spPr>
          <a:xfrm>
            <a:off x="7251192" y="2560320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3A2A"/>
                </a:solidFill>
              </a:rPr>
              <a:t>WS-2</a:t>
            </a:r>
            <a:endParaRPr lang="en-US" sz="900" dirty="0"/>
          </a:p>
        </p:txBody>
      </p:sp>
      <p:sp>
        <p:nvSpPr>
          <p:cNvPr id="135" name="Shape 133"/>
          <p:cNvSpPr/>
          <p:nvPr/>
        </p:nvSpPr>
        <p:spPr>
          <a:xfrm>
            <a:off x="7251192" y="2834640"/>
            <a:ext cx="1097280" cy="201168"/>
          </a:xfrm>
          <a:prstGeom prst="rect">
            <a:avLst/>
          </a:prstGeom>
          <a:solidFill>
            <a:srgbClr val="E8E0D8"/>
          </a:solidFill>
          <a:ln w="12700">
            <a:solidFill>
              <a:srgbClr val="C9A87C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7251192" y="2834640"/>
            <a:ext cx="502554" cy="201168"/>
          </a:xfrm>
          <a:prstGeom prst="rect">
            <a:avLst/>
          </a:prstGeom>
          <a:solidFill>
            <a:srgbClr val="9B6A4A"/>
          </a:solidFill>
          <a:ln w="12700">
            <a:solidFill>
              <a:srgbClr val="9B6A4A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7790322" y="2834640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B1A08"/>
                </a:solidFill>
              </a:rPr>
              <a:t>45.8%</a:t>
            </a:r>
            <a:endParaRPr lang="en-US" sz="800" dirty="0"/>
          </a:p>
        </p:txBody>
      </p:sp>
      <p:sp>
        <p:nvSpPr>
          <p:cNvPr id="138" name="Text 136"/>
          <p:cNvSpPr/>
          <p:nvPr/>
        </p:nvSpPr>
        <p:spPr>
          <a:xfrm>
            <a:off x="7251192" y="3054096"/>
            <a:ext cx="10972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777777"/>
                </a:solidFill>
              </a:rPr>
              <a:t>Σ=5.5 min</a:t>
            </a:r>
            <a:endParaRPr lang="en-US" sz="700" dirty="0"/>
          </a:p>
        </p:txBody>
      </p:sp>
      <p:sp>
        <p:nvSpPr>
          <p:cNvPr id="139" name="Text 137"/>
          <p:cNvSpPr/>
          <p:nvPr/>
        </p:nvSpPr>
        <p:spPr>
          <a:xfrm>
            <a:off x="7251192" y="3218688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3A2A"/>
                </a:solidFill>
              </a:rPr>
              <a:t>WS-3</a:t>
            </a:r>
            <a:endParaRPr lang="en-US" sz="900" dirty="0"/>
          </a:p>
        </p:txBody>
      </p:sp>
      <p:sp>
        <p:nvSpPr>
          <p:cNvPr id="140" name="Shape 138"/>
          <p:cNvSpPr/>
          <p:nvPr/>
        </p:nvSpPr>
        <p:spPr>
          <a:xfrm>
            <a:off x="7251192" y="3493008"/>
            <a:ext cx="1097280" cy="201168"/>
          </a:xfrm>
          <a:prstGeom prst="rect">
            <a:avLst/>
          </a:prstGeom>
          <a:solidFill>
            <a:srgbClr val="E8E0D8"/>
          </a:solidFill>
          <a:ln w="12700">
            <a:solidFill>
              <a:srgbClr val="C9A87C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7251192" y="3493008"/>
            <a:ext cx="869046" cy="201168"/>
          </a:xfrm>
          <a:prstGeom prst="rect">
            <a:avLst/>
          </a:prstGeom>
          <a:solidFill>
            <a:srgbClr val="7B4A2A"/>
          </a:solidFill>
          <a:ln w="12700">
            <a:solidFill>
              <a:srgbClr val="7B4A2A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8156814" y="3493008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B1A08"/>
                </a:solidFill>
              </a:rPr>
              <a:t>79.2%</a:t>
            </a:r>
            <a:endParaRPr lang="en-US" sz="800" dirty="0"/>
          </a:p>
        </p:txBody>
      </p:sp>
      <p:sp>
        <p:nvSpPr>
          <p:cNvPr id="143" name="Text 141"/>
          <p:cNvSpPr/>
          <p:nvPr/>
        </p:nvSpPr>
        <p:spPr>
          <a:xfrm>
            <a:off x="7251192" y="3712464"/>
            <a:ext cx="10972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777777"/>
                </a:solidFill>
              </a:rPr>
              <a:t>Σ=9.5 min</a:t>
            </a:r>
            <a:endParaRPr lang="en-US" sz="700" dirty="0"/>
          </a:p>
        </p:txBody>
      </p:sp>
      <p:sp>
        <p:nvSpPr>
          <p:cNvPr id="144" name="Text 142"/>
          <p:cNvSpPr/>
          <p:nvPr/>
        </p:nvSpPr>
        <p:spPr>
          <a:xfrm>
            <a:off x="7251192" y="387705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3A2A"/>
                </a:solidFill>
              </a:rPr>
              <a:t>WS-4</a:t>
            </a:r>
            <a:endParaRPr lang="en-US" sz="900" dirty="0"/>
          </a:p>
        </p:txBody>
      </p:sp>
      <p:sp>
        <p:nvSpPr>
          <p:cNvPr id="145" name="Shape 143"/>
          <p:cNvSpPr/>
          <p:nvPr/>
        </p:nvSpPr>
        <p:spPr>
          <a:xfrm>
            <a:off x="7251192" y="4151376"/>
            <a:ext cx="1097280" cy="201168"/>
          </a:xfrm>
          <a:prstGeom prst="rect">
            <a:avLst/>
          </a:prstGeom>
          <a:solidFill>
            <a:srgbClr val="E8E0D8"/>
          </a:solidFill>
          <a:ln w="12700">
            <a:solidFill>
              <a:srgbClr val="C9A87C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7251192" y="4151376"/>
            <a:ext cx="869046" cy="201168"/>
          </a:xfrm>
          <a:prstGeom prst="rect">
            <a:avLst/>
          </a:prstGeom>
          <a:solidFill>
            <a:srgbClr val="C9952C"/>
          </a:solidFill>
          <a:ln w="12700">
            <a:solidFill>
              <a:srgbClr val="C9952C"/>
            </a:solidFill>
            <a:prstDash val="solid"/>
          </a:ln>
        </p:spPr>
      </p:sp>
      <p:sp>
        <p:nvSpPr>
          <p:cNvPr id="147" name="Text 145"/>
          <p:cNvSpPr/>
          <p:nvPr/>
        </p:nvSpPr>
        <p:spPr>
          <a:xfrm>
            <a:off x="8156814" y="4151376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B1A08"/>
                </a:solidFill>
              </a:rPr>
              <a:t>79.2%</a:t>
            </a:r>
            <a:endParaRPr lang="en-US" sz="800" dirty="0"/>
          </a:p>
        </p:txBody>
      </p:sp>
      <p:sp>
        <p:nvSpPr>
          <p:cNvPr id="148" name="Text 146"/>
          <p:cNvSpPr/>
          <p:nvPr/>
        </p:nvSpPr>
        <p:spPr>
          <a:xfrm>
            <a:off x="7251192" y="4370832"/>
            <a:ext cx="10972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777777"/>
                </a:solidFill>
              </a:rPr>
              <a:t>Σ=9.5 min</a:t>
            </a:r>
            <a:endParaRPr lang="en-US" sz="700" dirty="0"/>
          </a:p>
        </p:txBody>
      </p:sp>
      <p:sp>
        <p:nvSpPr>
          <p:cNvPr id="149" name="Shape 147"/>
          <p:cNvSpPr/>
          <p:nvPr/>
        </p:nvSpPr>
        <p:spPr>
          <a:xfrm>
            <a:off x="7232904" y="3657600"/>
            <a:ext cx="1664208" cy="1078992"/>
          </a:xfrm>
          <a:prstGeom prst="rect">
            <a:avLst/>
          </a:prstGeom>
          <a:solidFill>
            <a:srgbClr val="C9952C"/>
          </a:solidFill>
          <a:ln w="12700">
            <a:solidFill>
              <a:srgbClr val="C9952C"/>
            </a:solidFill>
            <a:prstDash val="solid"/>
          </a:ln>
        </p:spPr>
      </p:sp>
      <p:sp>
        <p:nvSpPr>
          <p:cNvPr id="150" name="Text 148"/>
          <p:cNvSpPr/>
          <p:nvPr/>
        </p:nvSpPr>
        <p:spPr>
          <a:xfrm>
            <a:off x="7269480" y="3685032"/>
            <a:ext cx="1591056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Line Efficiency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= 35 / 48 = 72.9%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Bottleneck: WS-1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(Primary Wrapping)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3B1A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6B3A2A"/>
          </a:solidFill>
          <a:ln w="12700">
            <a:solidFill>
              <a:srgbClr val="6B3A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C9952C"/>
          </a:solidFill>
          <a:ln w="12700">
            <a:solidFill>
              <a:srgbClr val="C9952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91440"/>
            <a:ext cx="8686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CONCLUSIONS &amp; RECOMMENDATIONS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01168" y="914400"/>
            <a:ext cx="4251960" cy="1234440"/>
          </a:xfrm>
          <a:prstGeom prst="rect">
            <a:avLst/>
          </a:prstGeom>
          <a:solidFill>
            <a:srgbClr val="6B3A2A">
              <a:alpha val="80000"/>
            </a:srgbClr>
          </a:solidFill>
          <a:ln w="12700">
            <a:solidFill>
              <a:srgbClr val="C9952C"/>
            </a:solidFill>
            <a:prstDash val="solid"/>
          </a:ln>
          <a:effectLst>
            <a:outerShdw blurRad="762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92608" y="1005840"/>
            <a:ext cx="420624" cy="420624"/>
          </a:xfrm>
          <a:prstGeom prst="ellipse">
            <a:avLst/>
          </a:prstGeom>
          <a:solidFill>
            <a:srgbClr val="C9952C"/>
          </a:solidFill>
          <a:ln w="12700">
            <a:solidFill>
              <a:srgbClr val="C9952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2608" y="100584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04672" y="98755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952C"/>
                </a:solidFill>
              </a:rPr>
              <a:t>U-Shape Layout Selected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04672" y="1353312"/>
            <a:ext cx="3566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DF3E7"/>
                </a:solidFill>
              </a:rPr>
              <a:t>Achieves minimum average travel distance of 42 m between adjacent departments with 100% forward-only material flow.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681728" y="914400"/>
            <a:ext cx="4251960" cy="1234440"/>
          </a:xfrm>
          <a:prstGeom prst="rect">
            <a:avLst/>
          </a:prstGeom>
          <a:solidFill>
            <a:srgbClr val="6B3A2A">
              <a:alpha val="80000"/>
            </a:srgbClr>
          </a:solidFill>
          <a:ln w="12700">
            <a:solidFill>
              <a:srgbClr val="C9952C"/>
            </a:solidFill>
            <a:prstDash val="solid"/>
          </a:ln>
          <a:effectLst>
            <a:outerShdw blurRad="762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73168" y="1005840"/>
            <a:ext cx="420624" cy="420624"/>
          </a:xfrm>
          <a:prstGeom prst="ellipse">
            <a:avLst/>
          </a:prstGeom>
          <a:solidFill>
            <a:srgbClr val="C9952C"/>
          </a:solidFill>
          <a:ln w="12700">
            <a:solidFill>
              <a:srgbClr val="C9952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73168" y="100584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285232" y="98755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952C"/>
                </a:solidFill>
              </a:rPr>
              <a:t>Total Plant Area: 840 m²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285232" y="1353312"/>
            <a:ext cx="3566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DF3E7"/>
                </a:solidFill>
              </a:rPr>
              <a:t>Building: 30 m × 28 m. Equipment footprint 45.7 m², total workstation area 771.2 m² including clearances and aisles.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01168" y="2286000"/>
            <a:ext cx="4251960" cy="1234440"/>
          </a:xfrm>
          <a:prstGeom prst="rect">
            <a:avLst/>
          </a:prstGeom>
          <a:solidFill>
            <a:srgbClr val="6B3A2A">
              <a:alpha val="80000"/>
            </a:srgbClr>
          </a:solidFill>
          <a:ln w="12700">
            <a:solidFill>
              <a:srgbClr val="C9952C"/>
            </a:solidFill>
            <a:prstDash val="solid"/>
          </a:ln>
          <a:effectLst>
            <a:outerShdw blurRad="762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92608" y="2377440"/>
            <a:ext cx="420624" cy="420624"/>
          </a:xfrm>
          <a:prstGeom prst="ellipse">
            <a:avLst/>
          </a:prstGeom>
          <a:solidFill>
            <a:srgbClr val="C9952C"/>
          </a:solidFill>
          <a:ln w="12700">
            <a:solidFill>
              <a:srgbClr val="C9952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2608" y="237744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04672" y="235915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952C"/>
                </a:solidFill>
              </a:rPr>
              <a:t>Moulding/Enrobing Line Efficiency: 77.3%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04672" y="2724912"/>
            <a:ext cx="3566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DF3E7"/>
                </a:solidFill>
              </a:rPr>
              <a:t>3 workstations; bottleneck at WS-2 (cooling + demoulding). Recommend adding one conching machine to balance WS-2.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681728" y="2286000"/>
            <a:ext cx="4251960" cy="1234440"/>
          </a:xfrm>
          <a:prstGeom prst="rect">
            <a:avLst/>
          </a:prstGeom>
          <a:solidFill>
            <a:srgbClr val="6B3A2A">
              <a:alpha val="80000"/>
            </a:srgbClr>
          </a:solidFill>
          <a:ln w="12700">
            <a:solidFill>
              <a:srgbClr val="C9952C"/>
            </a:solidFill>
            <a:prstDash val="solid"/>
          </a:ln>
          <a:effectLst>
            <a:outerShdw blurRad="762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73168" y="2377440"/>
            <a:ext cx="420624" cy="420624"/>
          </a:xfrm>
          <a:prstGeom prst="ellipse">
            <a:avLst/>
          </a:prstGeom>
          <a:solidFill>
            <a:srgbClr val="C9952C"/>
          </a:solidFill>
          <a:ln w="12700">
            <a:solidFill>
              <a:srgbClr val="C9952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73168" y="237744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285232" y="235915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952C"/>
                </a:solidFill>
              </a:rPr>
              <a:t>Packaging Line Efficiency: 72.9%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285232" y="2724912"/>
            <a:ext cx="3566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DF3E7"/>
                </a:solidFill>
              </a:rPr>
              <a:t>4 workstations; bottleneck at WS-1. Recommend a second flow-wrap machine to reduce wrapping cycle time.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01168" y="3657600"/>
            <a:ext cx="4251960" cy="1234440"/>
          </a:xfrm>
          <a:prstGeom prst="rect">
            <a:avLst/>
          </a:prstGeom>
          <a:solidFill>
            <a:srgbClr val="6B3A2A">
              <a:alpha val="80000"/>
            </a:srgbClr>
          </a:solidFill>
          <a:ln w="12700">
            <a:solidFill>
              <a:srgbClr val="C9952C"/>
            </a:solidFill>
            <a:prstDash val="solid"/>
          </a:ln>
          <a:effectLst>
            <a:outerShdw blurRad="762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92608" y="3749040"/>
            <a:ext cx="420624" cy="420624"/>
          </a:xfrm>
          <a:prstGeom prst="ellipse">
            <a:avLst/>
          </a:prstGeom>
          <a:solidFill>
            <a:srgbClr val="C9952C"/>
          </a:solidFill>
          <a:ln w="12700">
            <a:solidFill>
              <a:srgbClr val="C9952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92608" y="374904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05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04672" y="373075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952C"/>
                </a:solidFill>
              </a:rPr>
              <a:t>Quality &amp; Compliance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04672" y="4096512"/>
            <a:ext cx="3566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DF3E7"/>
                </a:solidFill>
              </a:rPr>
              <a:t>QC lab centrally located with access to all production lines. Metal detectors and checkweighers at packaging stage for GMP compliance.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681728" y="3657600"/>
            <a:ext cx="4251960" cy="1234440"/>
          </a:xfrm>
          <a:prstGeom prst="rect">
            <a:avLst/>
          </a:prstGeom>
          <a:solidFill>
            <a:srgbClr val="6B3A2A">
              <a:alpha val="80000"/>
            </a:srgbClr>
          </a:solidFill>
          <a:ln w="12700">
            <a:solidFill>
              <a:srgbClr val="C9952C"/>
            </a:solidFill>
            <a:prstDash val="solid"/>
          </a:ln>
          <a:effectLst>
            <a:outerShdw blurRad="762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73168" y="3749040"/>
            <a:ext cx="420624" cy="420624"/>
          </a:xfrm>
          <a:prstGeom prst="ellipse">
            <a:avLst/>
          </a:prstGeom>
          <a:solidFill>
            <a:srgbClr val="C9952C"/>
          </a:solidFill>
          <a:ln w="12700">
            <a:solidFill>
              <a:srgbClr val="C9952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73168" y="374904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06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285232" y="373075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952C"/>
                </a:solidFill>
              </a:rPr>
              <a:t>Future Expansion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285232" y="4096512"/>
            <a:ext cx="3566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DF3E7"/>
                </a:solidFill>
              </a:rPr>
              <a:t>U-shape allows +30% capacity by extending the top arm eastward without disrupting existing flow. Utilities zone pre-sized for expansion.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201168" y="4892040"/>
            <a:ext cx="8732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C9952C"/>
                </a:solidFill>
              </a:rPr>
              <a:t>Chocolate Factory — Facilities Planning Project  |  Dr. Aziz Ezzat  |  Shahd Elsanet &amp; Abdelrahman Hatem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2079</Words>
  <Application>Microsoft Macintosh PowerPoint</Application>
  <PresentationFormat>On-screen Show (16:9)</PresentationFormat>
  <Paragraphs>685</Paragraphs>
  <Slides>20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abdelrahman001@icloud.com</cp:lastModifiedBy>
  <cp:revision>2</cp:revision>
  <dcterms:created xsi:type="dcterms:W3CDTF">2026-05-10T00:38:03Z</dcterms:created>
  <dcterms:modified xsi:type="dcterms:W3CDTF">2026-05-10T07:44:38Z</dcterms:modified>
</cp:coreProperties>
</file>